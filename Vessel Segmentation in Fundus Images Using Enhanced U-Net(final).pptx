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8128000" cy="4572000"/>
  <p:notesSz cx="8128000" cy="4572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6B948E-CDE2-455D-B566-3A9427FB72B4}" v="4" dt="2025-04-24T10:51:26.37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00" d="100"/>
          <a:sy n="200" d="100"/>
        </p:scale>
        <p:origin x="115" y="-24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Pandey" userId="faa659384e807ee5" providerId="LiveId" clId="{106B948E-CDE2-455D-B566-3A9427FB72B4}"/>
    <pc:docChg chg="modSld">
      <pc:chgData name="Aditya Pandey" userId="faa659384e807ee5" providerId="LiveId" clId="{106B948E-CDE2-455D-B566-3A9427FB72B4}" dt="2025-04-24T10:51:52.217" v="53" actId="1076"/>
      <pc:docMkLst>
        <pc:docMk/>
      </pc:docMkLst>
      <pc:sldChg chg="modSp mod">
        <pc:chgData name="Aditya Pandey" userId="faa659384e807ee5" providerId="LiveId" clId="{106B948E-CDE2-455D-B566-3A9427FB72B4}" dt="2025-04-24T10:48:55.519" v="10" actId="113"/>
        <pc:sldMkLst>
          <pc:docMk/>
          <pc:sldMk cId="0" sldId="257"/>
        </pc:sldMkLst>
        <pc:spChg chg="mod">
          <ac:chgData name="Aditya Pandey" userId="faa659384e807ee5" providerId="LiveId" clId="{106B948E-CDE2-455D-B566-3A9427FB72B4}" dt="2025-04-24T10:48:55.519" v="10" actId="113"/>
          <ac:spMkLst>
            <pc:docMk/>
            <pc:sldMk cId="0" sldId="257"/>
            <ac:spMk id="3" creationId="{00000000-0000-0000-0000-000000000000}"/>
          </ac:spMkLst>
        </pc:spChg>
        <pc:spChg chg="mod">
          <ac:chgData name="Aditya Pandey" userId="faa659384e807ee5" providerId="LiveId" clId="{106B948E-CDE2-455D-B566-3A9427FB72B4}" dt="2025-04-24T10:48:41.945" v="7" actId="255"/>
          <ac:spMkLst>
            <pc:docMk/>
            <pc:sldMk cId="0" sldId="257"/>
            <ac:spMk id="4" creationId="{00000000-0000-0000-0000-000000000000}"/>
          </ac:spMkLst>
        </pc:spChg>
        <pc:spChg chg="mod">
          <ac:chgData name="Aditya Pandey" userId="faa659384e807ee5" providerId="LiveId" clId="{106B948E-CDE2-455D-B566-3A9427FB72B4}" dt="2025-04-24T10:48:52.473" v="9" actId="1076"/>
          <ac:spMkLst>
            <pc:docMk/>
            <pc:sldMk cId="0" sldId="257"/>
            <ac:spMk id="5" creationId="{00000000-0000-0000-0000-000000000000}"/>
          </ac:spMkLst>
        </pc:spChg>
      </pc:sldChg>
      <pc:sldChg chg="addSp modSp mod">
        <pc:chgData name="Aditya Pandey" userId="faa659384e807ee5" providerId="LiveId" clId="{106B948E-CDE2-455D-B566-3A9427FB72B4}" dt="2025-04-24T10:51:52.217" v="53" actId="1076"/>
        <pc:sldMkLst>
          <pc:docMk/>
          <pc:sldMk cId="0" sldId="265"/>
        </pc:sldMkLst>
        <pc:spChg chg="add mod">
          <ac:chgData name="Aditya Pandey" userId="faa659384e807ee5" providerId="LiveId" clId="{106B948E-CDE2-455D-B566-3A9427FB72B4}" dt="2025-04-24T10:50:38.115" v="36" actId="1076"/>
          <ac:spMkLst>
            <pc:docMk/>
            <pc:sldMk cId="0" sldId="265"/>
            <ac:spMk id="28" creationId="{39B98A53-8141-4F76-0435-C8E1DD6C25CB}"/>
          </ac:spMkLst>
        </pc:spChg>
        <pc:spChg chg="add mod">
          <ac:chgData name="Aditya Pandey" userId="faa659384e807ee5" providerId="LiveId" clId="{106B948E-CDE2-455D-B566-3A9427FB72B4}" dt="2025-04-24T10:51:52.217" v="53" actId="1076"/>
          <ac:spMkLst>
            <pc:docMk/>
            <pc:sldMk cId="0" sldId="265"/>
            <ac:spMk id="32" creationId="{2C9F068B-BC32-B461-9E84-B073B9762495}"/>
          </ac:spMkLst>
        </pc:spChg>
        <pc:picChg chg="add mod">
          <ac:chgData name="Aditya Pandey" userId="faa659384e807ee5" providerId="LiveId" clId="{106B948E-CDE2-455D-B566-3A9427FB72B4}" dt="2025-04-24T10:49:16.610" v="13" actId="1076"/>
          <ac:picMkLst>
            <pc:docMk/>
            <pc:sldMk cId="0" sldId="265"/>
            <ac:picMk id="25" creationId="{29A2B022-CDD4-7559-8BEF-F03E107D1AE0}"/>
          </ac:picMkLst>
        </pc:picChg>
        <pc:picChg chg="add mod">
          <ac:chgData name="Aditya Pandey" userId="faa659384e807ee5" providerId="LiveId" clId="{106B948E-CDE2-455D-B566-3A9427FB72B4}" dt="2025-04-24T10:49:38.824" v="18" actId="1076"/>
          <ac:picMkLst>
            <pc:docMk/>
            <pc:sldMk cId="0" sldId="265"/>
            <ac:picMk id="27" creationId="{7F348BB0-84CA-F5A4-B5BE-B3A166170381}"/>
          </ac:picMkLst>
        </pc:picChg>
        <pc:picChg chg="add mod">
          <ac:chgData name="Aditya Pandey" userId="faa659384e807ee5" providerId="LiveId" clId="{106B948E-CDE2-455D-B566-3A9427FB72B4}" dt="2025-04-24T10:50:44.699" v="38" actId="1076"/>
          <ac:picMkLst>
            <pc:docMk/>
            <pc:sldMk cId="0" sldId="265"/>
            <ac:picMk id="29" creationId="{1642526F-01C0-0389-E6A4-6F7CDB0D4189}"/>
          </ac:picMkLst>
        </pc:picChg>
        <pc:picChg chg="add mod">
          <ac:chgData name="Aditya Pandey" userId="faa659384e807ee5" providerId="LiveId" clId="{106B948E-CDE2-455D-B566-3A9427FB72B4}" dt="2025-04-24T10:51:11.051" v="44" actId="14100"/>
          <ac:picMkLst>
            <pc:docMk/>
            <pc:sldMk cId="0" sldId="265"/>
            <ac:picMk id="31" creationId="{9EAC55B6-D9B6-D0D4-5B27-E55D240B4A2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9600" y="1417320"/>
            <a:ext cx="6908800" cy="960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00418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19200" y="2560320"/>
            <a:ext cx="5689600" cy="114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0F0F0F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00418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0F0F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00418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06400" y="1051560"/>
            <a:ext cx="353568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185920" y="1051560"/>
            <a:ext cx="353568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194047"/>
            <a:ext cx="8128000" cy="2133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61143" y="414527"/>
            <a:ext cx="405333" cy="35966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00418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03625" y="713994"/>
            <a:ext cx="2555240" cy="676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00418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6572" y="1271129"/>
            <a:ext cx="3945254" cy="1925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0F0F0F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63520" y="4251960"/>
            <a:ext cx="260096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06400" y="4251960"/>
            <a:ext cx="18694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852160" y="4251960"/>
            <a:ext cx="18694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presentations.ai/?utm_source=free_pdf_download&amp;utm_medium=presentation&amp;utm_campaign=Created%20using%20Presentations.a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926" y="245109"/>
            <a:ext cx="5646420" cy="1393651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 marR="5080" indent="15240">
              <a:lnSpc>
                <a:spcPct val="88800"/>
              </a:lnSpc>
              <a:spcBef>
                <a:spcPts val="615"/>
              </a:spcBef>
            </a:pPr>
            <a:r>
              <a:rPr lang="en-US" sz="3200" b="1" i="0" dirty="0">
                <a:solidFill>
                  <a:srgbClr val="003F84"/>
                </a:solidFill>
                <a:effectLst/>
                <a:latin typeface="Poppins" panose="020B0502040204020203" pitchFamily="2" charset="0"/>
              </a:rPr>
              <a:t>A Hybrid U-Net and Machine Learning Approach for Retinal Vessel Segmentation</a:t>
            </a:r>
            <a:endParaRPr sz="375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41191" y="3833621"/>
            <a:ext cx="1511935" cy="348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8265">
              <a:lnSpc>
                <a:spcPct val="111600"/>
              </a:lnSpc>
              <a:spcBef>
                <a:spcPts val="100"/>
              </a:spcBef>
            </a:pPr>
            <a:r>
              <a:rPr sz="950" spc="-25" dirty="0">
                <a:solidFill>
                  <a:srgbClr val="333333"/>
                </a:solidFill>
                <a:latin typeface="Arial MT"/>
                <a:cs typeface="Arial MT"/>
              </a:rPr>
              <a:t>Sparsh</a:t>
            </a:r>
            <a:r>
              <a:rPr sz="950" spc="-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Arial MT"/>
                <a:cs typeface="Arial MT"/>
              </a:rPr>
              <a:t>Patel</a:t>
            </a:r>
            <a:r>
              <a:rPr sz="95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950" spc="-25" dirty="0">
                <a:solidFill>
                  <a:srgbClr val="333333"/>
                </a:solidFill>
                <a:latin typeface="Arial MT"/>
                <a:cs typeface="Arial MT"/>
              </a:rPr>
              <a:t>(22BCE5026) </a:t>
            </a:r>
            <a:r>
              <a:rPr sz="950" spc="-10" dirty="0">
                <a:solidFill>
                  <a:srgbClr val="363636"/>
                </a:solidFill>
                <a:latin typeface="Arial MT"/>
                <a:cs typeface="Arial MT"/>
              </a:rPr>
              <a:t>Aditya</a:t>
            </a:r>
            <a:r>
              <a:rPr sz="950" spc="-4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950" spc="-25" dirty="0">
                <a:solidFill>
                  <a:srgbClr val="343434"/>
                </a:solidFill>
                <a:latin typeface="Arial MT"/>
                <a:cs typeface="Arial MT"/>
              </a:rPr>
              <a:t>Pandey</a:t>
            </a:r>
            <a:r>
              <a:rPr sz="950" spc="2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950" spc="-25" dirty="0">
                <a:solidFill>
                  <a:srgbClr val="343434"/>
                </a:solidFill>
                <a:latin typeface="Arial MT"/>
                <a:cs typeface="Arial MT"/>
              </a:rPr>
              <a:t>(22BCE1919)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20A6BD-BBA8-7032-1A20-2655DE0F5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400" y="4187880"/>
            <a:ext cx="2209800" cy="2373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8268" y="1055624"/>
            <a:ext cx="3360420" cy="95282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IN" sz="900" b="1" spc="-40" dirty="0">
                <a:solidFill>
                  <a:srgbClr val="0E0E0E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CLINICAL MOTIVATION</a:t>
            </a:r>
          </a:p>
          <a:p>
            <a:pPr marL="12700" algn="l">
              <a:spcBef>
                <a:spcPts val="530"/>
              </a:spcBef>
            </a:pPr>
            <a:r>
              <a:rPr lang="en-US" sz="900" b="0" i="0" dirty="0">
                <a:solidFill>
                  <a:srgbClr val="0A0F2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Understanding vessel segmentation is crucial for diagnosing eye diseases.</a:t>
            </a:r>
          </a:p>
          <a:p>
            <a:pPr marL="12700" algn="l">
              <a:spcBef>
                <a:spcPts val="530"/>
              </a:spcBef>
            </a:pPr>
            <a:endParaRPr lang="en-US" sz="900" b="0" i="0" dirty="0">
              <a:solidFill>
                <a:srgbClr val="0A0F21"/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endParaRPr sz="9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6930" y="1680618"/>
            <a:ext cx="3586479" cy="160941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530"/>
              </a:spcBef>
            </a:pPr>
            <a:r>
              <a:rPr sz="900" b="1" spc="1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  <a:r>
              <a:rPr sz="900" b="1" spc="245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900" b="1" spc="-20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endParaRPr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" algn="l">
              <a:spcBef>
                <a:spcPts val="390"/>
              </a:spcBef>
            </a:pPr>
            <a:r>
              <a:rPr lang="en-US" sz="900" b="0" i="0" dirty="0">
                <a:solidFill>
                  <a:srgbClr val="0A0F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segmentation is time-consuming; automation can enhance efficiency.</a:t>
            </a:r>
          </a:p>
          <a:p>
            <a:pPr marL="13970" algn="l">
              <a:spcBef>
                <a:spcPts val="390"/>
              </a:spcBef>
            </a:pPr>
            <a:endParaRPr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r>
              <a:rPr lang="en-IN" sz="900" b="1" i="0" dirty="0">
                <a:solidFill>
                  <a:srgbClr val="0A0F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Challenges</a:t>
            </a: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r>
              <a:rPr lang="en-US" sz="900" b="0" i="0" dirty="0">
                <a:solidFill>
                  <a:srgbClr val="0A0F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faces noise and variability in fundus images.</a:t>
            </a: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  <a:r>
              <a:rPr sz="900" b="1" spc="5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9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</a:t>
            </a:r>
            <a:r>
              <a:rPr lang="en-IN" sz="9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900" b="1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rning</a:t>
            </a:r>
            <a:r>
              <a:rPr sz="900" b="1" spc="-1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900" b="1" spc="-1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IN" sz="900" b="1" spc="-1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900" b="1" spc="-1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endParaRPr lang="en-IN" sz="900" b="1" spc="-1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l">
              <a:spcBef>
                <a:spcPts val="5"/>
              </a:spcBef>
            </a:pPr>
            <a:r>
              <a:rPr lang="en-US" sz="900" b="0" i="0" dirty="0">
                <a:solidFill>
                  <a:srgbClr val="0A0F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offers powerful techniques for improved segmentation accuracy.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endParaRPr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6930" y="3227835"/>
            <a:ext cx="3183255" cy="5770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900" b="1" i="0" dirty="0">
                <a:solidFill>
                  <a:srgbClr val="0A0F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Goal</a:t>
            </a:r>
          </a:p>
          <a:p>
            <a:pPr marL="12700" algn="l">
              <a:spcBef>
                <a:spcPts val="100"/>
              </a:spcBef>
            </a:pPr>
            <a:r>
              <a:rPr lang="en-US" sz="900" b="0" i="0" dirty="0">
                <a:solidFill>
                  <a:srgbClr val="0A0F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hybrid approach combining learned features and clustering.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130800" y="570484"/>
            <a:ext cx="2620175" cy="913968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10845" marR="5080" indent="-398780" algn="l">
              <a:lnSpc>
                <a:spcPct val="95600"/>
              </a:lnSpc>
              <a:spcBef>
                <a:spcPts val="215"/>
              </a:spcBef>
            </a:pPr>
            <a:r>
              <a:rPr lang="en-US" sz="2000" b="1" i="0" dirty="0">
                <a:solidFill>
                  <a:srgbClr val="003F84"/>
                </a:solidFill>
                <a:effectLst/>
                <a:latin typeface="Poppins" panose="00000500000000000000" pitchFamily="2" charset="0"/>
              </a:rPr>
              <a:t>   Advancements</a:t>
            </a:r>
            <a:br>
              <a:rPr lang="en-US" sz="2000" b="1" i="0" dirty="0">
                <a:solidFill>
                  <a:srgbClr val="003F84"/>
                </a:solidFill>
                <a:effectLst/>
                <a:latin typeface="Poppins" panose="00000500000000000000" pitchFamily="2" charset="0"/>
              </a:rPr>
            </a:br>
            <a:r>
              <a:rPr lang="en-US" sz="2000" b="1" i="0" dirty="0">
                <a:solidFill>
                  <a:srgbClr val="003F84"/>
                </a:solidFill>
                <a:effectLst/>
                <a:latin typeface="Poppins" panose="00000500000000000000" pitchFamily="2" charset="0"/>
              </a:rPr>
              <a:t>in Fundus Image Segmentation</a:t>
            </a:r>
            <a:endParaRPr lang="en-IN" sz="225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7426" y="820194"/>
            <a:ext cx="3927574" cy="779059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lang="en-IN" sz="900" b="1" i="0" dirty="0">
                <a:solidFill>
                  <a:srgbClr val="0A0F21"/>
                </a:solidFill>
                <a:effectLst/>
                <a:latin typeface="Poppins" panose="00000500000000000000" pitchFamily="2" charset="0"/>
              </a:rPr>
              <a:t>Limitations of Hand-crafted Methods</a:t>
            </a:r>
          </a:p>
          <a:p>
            <a:pPr marL="12700" algn="l">
              <a:spcBef>
                <a:spcPts val="555"/>
              </a:spcBef>
            </a:pPr>
            <a:r>
              <a:rPr lang="en-US" sz="900" b="0" i="0" dirty="0">
                <a:solidFill>
                  <a:srgbClr val="0A0F21"/>
                </a:solidFill>
                <a:effectLst/>
                <a:latin typeface="IBM Plex Sans" panose="020B0503050203000203" pitchFamily="34" charset="0"/>
              </a:rPr>
              <a:t>Hand-crafted methods often fail to adapt to diverse fundus image conditions, limiting effectiveness.</a:t>
            </a: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endParaRPr sz="9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5951" y="1479295"/>
            <a:ext cx="3933825" cy="237821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lang="en-IN" sz="900" b="1" i="0" dirty="0">
                <a:solidFill>
                  <a:srgbClr val="0A0F21"/>
                </a:solidFill>
                <a:effectLst/>
                <a:latin typeface="Poppins" panose="00000500000000000000" pitchFamily="2" charset="0"/>
              </a:rPr>
              <a:t>Issues with Standard U-Net</a:t>
            </a:r>
          </a:p>
          <a:p>
            <a:pPr marL="12700" algn="l">
              <a:spcBef>
                <a:spcPts val="505"/>
              </a:spcBef>
            </a:pPr>
            <a:r>
              <a:rPr lang="en-US" sz="900" b="0" i="0" dirty="0">
                <a:solidFill>
                  <a:srgbClr val="0A0F21"/>
                </a:solidFill>
                <a:effectLst/>
                <a:latin typeface="IBM Plex Sans" panose="020B0503050203000203" pitchFamily="34" charset="0"/>
              </a:rPr>
              <a:t>Standard U-Net struggles with complex structures in fundus images, leading to suboptimal segmentation.</a:t>
            </a: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lang="en-IN" sz="900" b="1" i="0" dirty="0">
                <a:solidFill>
                  <a:srgbClr val="0A0F21"/>
                </a:solidFill>
                <a:effectLst/>
                <a:latin typeface="Poppins" panose="00000500000000000000" pitchFamily="2" charset="0"/>
              </a:rPr>
              <a:t>Generalization Gap Challenges</a:t>
            </a:r>
            <a:endParaRPr lang="en-IN" sz="900" b="1" dirty="0">
              <a:solidFill>
                <a:srgbClr val="0A0F21"/>
              </a:solidFill>
              <a:latin typeface="Poppins" panose="00000500000000000000" pitchFamily="2" charset="0"/>
            </a:endParaRPr>
          </a:p>
          <a:p>
            <a:pPr marL="12700" algn="l">
              <a:spcBef>
                <a:spcPts val="505"/>
              </a:spcBef>
            </a:pPr>
            <a:r>
              <a:rPr lang="en-US" sz="900" b="0" i="0" dirty="0">
                <a:solidFill>
                  <a:srgbClr val="0A0F21"/>
                </a:solidFill>
                <a:effectLst/>
                <a:latin typeface="IBM Plex Sans" panose="020B0503050203000203" pitchFamily="34" charset="0"/>
              </a:rPr>
              <a:t>There's a significant generalization gap in vessel segmentation across different datasets.</a:t>
            </a: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lang="en-IN" sz="900" b="1" i="0" dirty="0">
                <a:solidFill>
                  <a:srgbClr val="0A0F21"/>
                </a:solidFill>
                <a:effectLst/>
                <a:latin typeface="Poppins" panose="00000500000000000000" pitchFamily="2" charset="0"/>
              </a:rPr>
              <a:t>Class Imbalance Problems</a:t>
            </a:r>
          </a:p>
          <a:p>
            <a:pPr marL="12700" algn="l">
              <a:spcBef>
                <a:spcPts val="505"/>
              </a:spcBef>
            </a:pPr>
            <a:r>
              <a:rPr lang="en-US" sz="900" b="0" i="0" dirty="0">
                <a:solidFill>
                  <a:srgbClr val="0A0F21"/>
                </a:solidFill>
                <a:effectLst/>
                <a:latin typeface="IBM Plex Sans" panose="020B0503050203000203" pitchFamily="34" charset="0"/>
              </a:rPr>
              <a:t>Class imbalance in vessel versus background pixels complicates training and accuracy.</a:t>
            </a: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lang="en-IN" sz="900" b="1" i="0" dirty="0">
                <a:solidFill>
                  <a:srgbClr val="0A0F21"/>
                </a:solidFill>
                <a:effectLst/>
                <a:latin typeface="Poppins" panose="00000500000000000000" pitchFamily="2" charset="0"/>
              </a:rPr>
              <a:t>Post-processing Shortcomings</a:t>
            </a:r>
            <a:endParaRPr lang="en-IN" sz="900" b="1" i="0" dirty="0">
              <a:solidFill>
                <a:srgbClr val="0A0F21"/>
              </a:solidFill>
              <a:effectLst/>
              <a:latin typeface="Arial MT"/>
            </a:endParaRPr>
          </a:p>
          <a:p>
            <a:pPr marL="12700" algn="l">
              <a:spcBef>
                <a:spcPts val="505"/>
              </a:spcBef>
            </a:pPr>
            <a:r>
              <a:rPr lang="en-US" sz="900" b="0" i="0" dirty="0">
                <a:solidFill>
                  <a:srgbClr val="0A0F21"/>
                </a:solidFill>
                <a:effectLst/>
                <a:latin typeface="IBM Plex Sans" panose="020B0503050203000203" pitchFamily="34" charset="0"/>
              </a:rPr>
              <a:t>Post-processing techniques often fail to enhance segmentation results effectively.</a:t>
            </a: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endParaRPr lang="en-IN" sz="900" b="1" dirty="0">
              <a:solidFill>
                <a:srgbClr val="0A0F21"/>
              </a:solidFill>
              <a:latin typeface="Poppins" panose="00000500000000000000" pitchFamily="2" charset="0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785" marR="5080" algn="r">
              <a:lnSpc>
                <a:spcPct val="100000"/>
              </a:lnSpc>
              <a:spcBef>
                <a:spcPts val="100"/>
              </a:spcBef>
            </a:pPr>
            <a:r>
              <a:rPr sz="2050" dirty="0">
                <a:solidFill>
                  <a:srgbClr val="014185"/>
                </a:solidFill>
              </a:rPr>
              <a:t>Challenges</a:t>
            </a:r>
            <a:r>
              <a:rPr sz="2050" spc="100" dirty="0">
                <a:solidFill>
                  <a:srgbClr val="014185"/>
                </a:solidFill>
              </a:rPr>
              <a:t> </a:t>
            </a:r>
            <a:r>
              <a:rPr sz="2050" dirty="0">
                <a:solidFill>
                  <a:srgbClr val="003F87"/>
                </a:solidFill>
              </a:rPr>
              <a:t>in</a:t>
            </a:r>
            <a:r>
              <a:rPr sz="2050" spc="155" dirty="0">
                <a:solidFill>
                  <a:srgbClr val="003F87"/>
                </a:solidFill>
              </a:rPr>
              <a:t> </a:t>
            </a:r>
            <a:r>
              <a:rPr sz="2050" spc="-10" dirty="0">
                <a:solidFill>
                  <a:srgbClr val="003F83"/>
                </a:solidFill>
              </a:rPr>
              <a:t>Vessel</a:t>
            </a:r>
            <a:endParaRPr sz="2050"/>
          </a:p>
          <a:p>
            <a:pPr marL="57785" marR="22860" algn="r">
              <a:lnSpc>
                <a:spcPct val="100000"/>
              </a:lnSpc>
              <a:spcBef>
                <a:spcPts val="80"/>
              </a:spcBef>
            </a:pPr>
            <a:r>
              <a:rPr sz="2050" spc="-10" dirty="0">
                <a:solidFill>
                  <a:srgbClr val="003F83"/>
                </a:solidFill>
              </a:rPr>
              <a:t>Segmentotion</a:t>
            </a:r>
            <a:endParaRPr sz="2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4801" y="551434"/>
            <a:ext cx="2347595" cy="101600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24765" marR="5080" indent="-12700">
              <a:lnSpc>
                <a:spcPct val="97600"/>
              </a:lnSpc>
              <a:spcBef>
                <a:spcPts val="165"/>
              </a:spcBef>
            </a:pPr>
            <a:r>
              <a:rPr sz="2350" spc="-10" dirty="0">
                <a:solidFill>
                  <a:srgbClr val="003F85"/>
                </a:solidFill>
              </a:rPr>
              <a:t>Innovative </a:t>
            </a:r>
            <a:r>
              <a:rPr sz="2100" dirty="0">
                <a:solidFill>
                  <a:srgbClr val="013D85"/>
                </a:solidFill>
              </a:rPr>
              <a:t>Solutions</a:t>
            </a:r>
            <a:r>
              <a:rPr sz="2100" spc="-30" dirty="0">
                <a:solidFill>
                  <a:srgbClr val="013D85"/>
                </a:solidFill>
              </a:rPr>
              <a:t> </a:t>
            </a:r>
            <a:r>
              <a:rPr sz="2100" dirty="0">
                <a:solidFill>
                  <a:srgbClr val="013F82"/>
                </a:solidFill>
              </a:rPr>
              <a:t>for</a:t>
            </a:r>
            <a:r>
              <a:rPr sz="2100" spc="-105" dirty="0">
                <a:solidFill>
                  <a:srgbClr val="013F82"/>
                </a:solidFill>
              </a:rPr>
              <a:t> </a:t>
            </a:r>
            <a:r>
              <a:rPr sz="2100" spc="-50" dirty="0">
                <a:solidFill>
                  <a:srgbClr val="003F82"/>
                </a:solidFill>
              </a:rPr>
              <a:t>Vessel </a:t>
            </a:r>
            <a:r>
              <a:rPr spc="-10" dirty="0">
                <a:solidFill>
                  <a:srgbClr val="003F85"/>
                </a:solidFill>
              </a:rPr>
              <a:t>Segmentation</a:t>
            </a:r>
            <a:endParaRPr sz="2100"/>
          </a:p>
        </p:txBody>
      </p:sp>
      <p:sp>
        <p:nvSpPr>
          <p:cNvPr id="4" name="object 4"/>
          <p:cNvSpPr txBox="1"/>
          <p:nvPr/>
        </p:nvSpPr>
        <p:spPr>
          <a:xfrm>
            <a:off x="3769162" y="1271129"/>
            <a:ext cx="3723004" cy="24904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580"/>
              </a:spcBef>
            </a:pPr>
            <a:r>
              <a:rPr lang="en-IN" sz="900" b="1" i="0" dirty="0">
                <a:solidFill>
                  <a:srgbClr val="0A0F21"/>
                </a:solidFill>
                <a:effectLst/>
                <a:latin typeface="Poppins" panose="00000500000000000000" pitchFamily="2" charset="0"/>
              </a:rPr>
              <a:t>Enhanced U-Net Backbone</a:t>
            </a:r>
          </a:p>
          <a:p>
            <a:pPr marL="14604" algn="l">
              <a:spcBef>
                <a:spcPts val="580"/>
              </a:spcBef>
            </a:pPr>
            <a:r>
              <a:rPr lang="en-US" sz="900" b="0" i="0" dirty="0">
                <a:solidFill>
                  <a:srgbClr val="0A0F21"/>
                </a:solidFill>
                <a:effectLst/>
                <a:latin typeface="IBM Plex Sans" panose="020B0503050203000203" pitchFamily="34" charset="0"/>
              </a:rPr>
              <a:t>Utilizes a robust architecture to improve segmentation accuracy in fundus images.</a:t>
            </a:r>
          </a:p>
          <a:p>
            <a:pPr marL="14604">
              <a:lnSpc>
                <a:spcPct val="100000"/>
              </a:lnSpc>
              <a:spcBef>
                <a:spcPts val="580"/>
              </a:spcBef>
            </a:pPr>
            <a:r>
              <a:rPr lang="en-IN" sz="900" b="1" i="0" dirty="0">
                <a:solidFill>
                  <a:srgbClr val="0A0F21"/>
                </a:solidFill>
                <a:effectLst/>
                <a:latin typeface="Poppins" panose="00000500000000000000" pitchFamily="2" charset="0"/>
              </a:rPr>
              <a:t>Latent Space K-means</a:t>
            </a:r>
            <a:endParaRPr lang="en-IN" sz="900" b="1" dirty="0">
              <a:solidFill>
                <a:srgbClr val="0A0F21"/>
              </a:solidFill>
              <a:latin typeface="Poppins" panose="00000500000000000000" pitchFamily="2" charset="0"/>
            </a:endParaRPr>
          </a:p>
          <a:p>
            <a:pPr marL="14604" algn="l">
              <a:spcBef>
                <a:spcPts val="580"/>
              </a:spcBef>
            </a:pPr>
            <a:r>
              <a:rPr lang="en-US" sz="900" b="0" i="0" dirty="0">
                <a:solidFill>
                  <a:srgbClr val="0A0F21"/>
                </a:solidFill>
                <a:effectLst/>
                <a:latin typeface="IBM Plex Sans" panose="020B0503050203000203" pitchFamily="34" charset="0"/>
              </a:rPr>
              <a:t>Employs K-means clustering in latent space for refined segmentation outcomes.</a:t>
            </a:r>
          </a:p>
          <a:p>
            <a:pPr marL="14604">
              <a:lnSpc>
                <a:spcPct val="100000"/>
              </a:lnSpc>
              <a:spcBef>
                <a:spcPts val="580"/>
              </a:spcBef>
            </a:pPr>
            <a:r>
              <a:rPr lang="en-US" sz="900" b="1" i="0" dirty="0">
                <a:solidFill>
                  <a:srgbClr val="0A0F21"/>
                </a:solidFill>
                <a:effectLst/>
                <a:latin typeface="Poppins" panose="00000500000000000000" pitchFamily="2" charset="0"/>
              </a:rPr>
              <a:t>Modified Dual Iterative Thresholding (DIT)</a:t>
            </a:r>
            <a:endParaRPr lang="en-IN" sz="900" b="1" i="0" dirty="0">
              <a:solidFill>
                <a:srgbClr val="0A0F21"/>
              </a:solidFill>
              <a:effectLst/>
              <a:latin typeface="Poppins" panose="00000500000000000000" pitchFamily="2" charset="0"/>
            </a:endParaRPr>
          </a:p>
          <a:p>
            <a:pPr marL="14604" algn="l">
              <a:spcBef>
                <a:spcPts val="580"/>
              </a:spcBef>
            </a:pPr>
            <a:r>
              <a:rPr lang="en-US" sz="900" b="0" i="0" dirty="0">
                <a:solidFill>
                  <a:srgbClr val="0A0F21"/>
                </a:solidFill>
                <a:effectLst/>
                <a:latin typeface="IBM Plex Sans" panose="020B0503050203000203" pitchFamily="34" charset="0"/>
              </a:rPr>
              <a:t>Refines segmentation through an innovative iterative thresholding approach.</a:t>
            </a:r>
          </a:p>
          <a:p>
            <a:pPr marL="14604">
              <a:lnSpc>
                <a:spcPct val="100000"/>
              </a:lnSpc>
              <a:spcBef>
                <a:spcPts val="580"/>
              </a:spcBef>
            </a:pPr>
            <a:r>
              <a:rPr lang="en-IN" sz="900" b="1" i="0" dirty="0">
                <a:solidFill>
                  <a:srgbClr val="0A0F21"/>
                </a:solidFill>
                <a:effectLst/>
                <a:latin typeface="Poppins" panose="00000500000000000000" pitchFamily="2" charset="0"/>
              </a:rPr>
              <a:t>End-to-End Pipeline</a:t>
            </a:r>
            <a:endParaRPr lang="en-IN" sz="900" b="1" i="0" dirty="0">
              <a:solidFill>
                <a:srgbClr val="0A0F21"/>
              </a:solidFill>
              <a:effectLst/>
              <a:latin typeface="Arial Black"/>
            </a:endParaRPr>
          </a:p>
          <a:p>
            <a:pPr marL="14604" algn="l">
              <a:spcBef>
                <a:spcPts val="580"/>
              </a:spcBef>
            </a:pPr>
            <a:r>
              <a:rPr lang="en-US" sz="900" b="0" i="0" dirty="0">
                <a:solidFill>
                  <a:srgbClr val="0A0F21"/>
                </a:solidFill>
                <a:effectLst/>
                <a:latin typeface="IBM Plex Sans" panose="020B0503050203000203" pitchFamily="34" charset="0"/>
              </a:rPr>
              <a:t>Integrates multiple processing stages from grayscale images to final vessel mask.</a:t>
            </a:r>
          </a:p>
          <a:p>
            <a:pPr marL="14604">
              <a:lnSpc>
                <a:spcPct val="100000"/>
              </a:lnSpc>
              <a:spcBef>
                <a:spcPts val="580"/>
              </a:spcBef>
            </a:pPr>
            <a:endParaRPr lang="en-IN" sz="900" b="1" dirty="0">
              <a:solidFill>
                <a:srgbClr val="0A0F21"/>
              </a:solidFill>
              <a:latin typeface="Poppins" panose="00000500000000000000" pitchFamily="2" charset="0"/>
              <a:cs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46284" y="874014"/>
            <a:ext cx="4005579" cy="670696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710"/>
              </a:spcBef>
              <a:buClr>
                <a:srgbClr val="15E8C6"/>
              </a:buClr>
              <a:buFont typeface="Arial MT"/>
              <a:buChar char="■"/>
              <a:tabLst>
                <a:tab pos="182245" algn="l"/>
              </a:tabLst>
            </a:pPr>
            <a:r>
              <a:rPr lang="en-IN" sz="1000" b="1" i="0" dirty="0">
                <a:solidFill>
                  <a:srgbClr val="0A0F21"/>
                </a:solidFill>
                <a:effectLst/>
                <a:latin typeface="Poppins" panose="00000500000000000000" pitchFamily="2" charset="0"/>
              </a:rPr>
              <a:t>CHASE_DB1 Dataset</a:t>
            </a:r>
          </a:p>
          <a:p>
            <a:pPr marL="12700" algn="l">
              <a:spcBef>
                <a:spcPts val="710"/>
              </a:spcBef>
              <a:buClr>
                <a:srgbClr val="15E8C6"/>
              </a:buClr>
              <a:tabLst>
                <a:tab pos="182245" algn="l"/>
              </a:tabLst>
            </a:pPr>
            <a:r>
              <a:rPr lang="en-US" sz="800" b="0" i="0" dirty="0">
                <a:solidFill>
                  <a:srgbClr val="0A0F21"/>
                </a:solidFill>
                <a:effectLst/>
                <a:latin typeface="IBM Plex Sans" panose="020B0503050203000203" pitchFamily="34" charset="0"/>
              </a:rPr>
              <a:t>Contains 28 color fundus images from 14 pediatric subjects with expert annotations.</a:t>
            </a:r>
          </a:p>
          <a:p>
            <a:pPr marL="182245" indent="-169545">
              <a:lnSpc>
                <a:spcPct val="100000"/>
              </a:lnSpc>
              <a:spcBef>
                <a:spcPts val="710"/>
              </a:spcBef>
              <a:buClr>
                <a:srgbClr val="15E8C6"/>
              </a:buClr>
              <a:buFont typeface="Arial MT"/>
              <a:buChar char="■"/>
              <a:tabLst>
                <a:tab pos="182245" algn="l"/>
              </a:tabLst>
            </a:pPr>
            <a:endParaRPr sz="800" dirty="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6284" y="1387122"/>
            <a:ext cx="3802379" cy="2687274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555"/>
              </a:spcBef>
              <a:buClr>
                <a:srgbClr val="15E8C4"/>
              </a:buClr>
              <a:buFont typeface="Arial MT"/>
              <a:buChar char="■"/>
              <a:tabLst>
                <a:tab pos="187325" algn="l"/>
              </a:tabLst>
            </a:pPr>
            <a:r>
              <a:rPr lang="en-IN" sz="1000" b="1" i="0" dirty="0">
                <a:solidFill>
                  <a:srgbClr val="0A0F21"/>
                </a:solidFill>
                <a:effectLst/>
                <a:latin typeface="Poppins" panose="00000500000000000000" pitchFamily="2" charset="0"/>
              </a:rPr>
              <a:t>STARE Dataset</a:t>
            </a:r>
          </a:p>
          <a:p>
            <a:pPr marL="12700" algn="l">
              <a:spcBef>
                <a:spcPts val="555"/>
              </a:spcBef>
              <a:buClr>
                <a:srgbClr val="15E8C4"/>
              </a:buClr>
              <a:tabLst>
                <a:tab pos="187325" algn="l"/>
              </a:tabLst>
            </a:pPr>
            <a:r>
              <a:rPr lang="en-US" sz="1000" b="0" i="0" dirty="0">
                <a:solidFill>
                  <a:srgbClr val="0A0F21"/>
                </a:solidFill>
                <a:effectLst/>
                <a:latin typeface="IBM Plex Sans" panose="020B0503050203000203" pitchFamily="34" charset="0"/>
              </a:rPr>
              <a:t>Includes 20 images from a Topcon TRV-50 camera featuring pathological cases.</a:t>
            </a:r>
          </a:p>
          <a:p>
            <a:pPr marL="187325" indent="-174625">
              <a:lnSpc>
                <a:spcPct val="100000"/>
              </a:lnSpc>
              <a:spcBef>
                <a:spcPts val="555"/>
              </a:spcBef>
              <a:buClr>
                <a:srgbClr val="15E8C4"/>
              </a:buClr>
              <a:buFont typeface="Arial MT"/>
              <a:buChar char="■"/>
              <a:tabLst>
                <a:tab pos="187325" algn="l"/>
              </a:tabLst>
            </a:pPr>
            <a:r>
              <a:rPr lang="en-IN" sz="1000" b="1" i="0" dirty="0">
                <a:solidFill>
                  <a:srgbClr val="0A0F21"/>
                </a:solidFill>
                <a:effectLst/>
                <a:latin typeface="Poppins" panose="00000500000000000000" pitchFamily="2" charset="0"/>
              </a:rPr>
              <a:t>DRIVE Dataset</a:t>
            </a:r>
          </a:p>
          <a:p>
            <a:pPr marL="12700" algn="l">
              <a:spcBef>
                <a:spcPts val="555"/>
              </a:spcBef>
              <a:buClr>
                <a:srgbClr val="15E8C4"/>
              </a:buClr>
              <a:tabLst>
                <a:tab pos="187325" algn="l"/>
              </a:tabLst>
            </a:pPr>
            <a:r>
              <a:rPr lang="en-US" sz="1000" b="0" i="0" dirty="0">
                <a:solidFill>
                  <a:srgbClr val="0A0F21"/>
                </a:solidFill>
                <a:effectLst/>
                <a:latin typeface="IBM Plex Sans" panose="020B0503050203000203" pitchFamily="34" charset="0"/>
              </a:rPr>
              <a:t>Comprises 40 images divided into 20 for training and 20 for testing, focusing on diabetic retinopathy.</a:t>
            </a:r>
          </a:p>
          <a:p>
            <a:pPr marL="187325" indent="-174625">
              <a:lnSpc>
                <a:spcPct val="100000"/>
              </a:lnSpc>
              <a:spcBef>
                <a:spcPts val="555"/>
              </a:spcBef>
              <a:buClr>
                <a:srgbClr val="15E8C4"/>
              </a:buClr>
              <a:buFont typeface="Arial MT"/>
              <a:buChar char="■"/>
              <a:tabLst>
                <a:tab pos="187325" algn="l"/>
              </a:tabLst>
            </a:pPr>
            <a:r>
              <a:rPr lang="en-IN" sz="1000" b="1" i="0" dirty="0">
                <a:solidFill>
                  <a:srgbClr val="0A0F21"/>
                </a:solidFill>
                <a:effectLst/>
                <a:latin typeface="Poppins" panose="00000500000000000000" pitchFamily="2" charset="0"/>
              </a:rPr>
              <a:t>Diversity of Vessel Diameters</a:t>
            </a:r>
          </a:p>
          <a:p>
            <a:pPr marL="12700" algn="l">
              <a:spcBef>
                <a:spcPts val="555"/>
              </a:spcBef>
              <a:buClr>
                <a:srgbClr val="15E8C4"/>
              </a:buClr>
              <a:tabLst>
                <a:tab pos="187325" algn="l"/>
              </a:tabLst>
            </a:pPr>
            <a:r>
              <a:rPr lang="en-US" sz="1000" b="0" i="0" dirty="0">
                <a:solidFill>
                  <a:srgbClr val="0A0F21"/>
                </a:solidFill>
                <a:effectLst/>
                <a:latin typeface="IBM Plex Sans" panose="020B0503050203000203" pitchFamily="34" charset="0"/>
              </a:rPr>
              <a:t>The datasets contain vessels of varying diameters, both primary and fine capillaries.</a:t>
            </a:r>
          </a:p>
          <a:p>
            <a:pPr marL="187325" indent="-174625">
              <a:lnSpc>
                <a:spcPct val="100000"/>
              </a:lnSpc>
              <a:spcBef>
                <a:spcPts val="555"/>
              </a:spcBef>
              <a:buClr>
                <a:srgbClr val="15E8C4"/>
              </a:buClr>
              <a:buFont typeface="Arial MT"/>
              <a:buChar char="■"/>
              <a:tabLst>
                <a:tab pos="187325" algn="l"/>
              </a:tabLst>
            </a:pPr>
            <a:r>
              <a:rPr lang="en-IN" sz="1000" b="1" i="0" dirty="0">
                <a:solidFill>
                  <a:srgbClr val="0A0F21"/>
                </a:solidFill>
                <a:effectLst/>
                <a:latin typeface="Poppins" panose="00000500000000000000" pitchFamily="2" charset="0"/>
              </a:rPr>
              <a:t>Evaluation Protocol</a:t>
            </a:r>
          </a:p>
          <a:p>
            <a:pPr marL="12700" algn="l">
              <a:spcBef>
                <a:spcPts val="555"/>
              </a:spcBef>
              <a:buClr>
                <a:srgbClr val="15E8C4"/>
              </a:buClr>
              <a:tabLst>
                <a:tab pos="187325" algn="l"/>
              </a:tabLst>
            </a:pPr>
            <a:r>
              <a:rPr lang="en-US" sz="1000" b="0" i="0" dirty="0">
                <a:solidFill>
                  <a:srgbClr val="0A0F21"/>
                </a:solidFill>
                <a:effectLst/>
                <a:latin typeface="IBM Plex Sans" panose="020B0503050203000203" pitchFamily="34" charset="0"/>
              </a:rPr>
              <a:t>Employs an 80/20 train-test split with five-fold cross-validation for hyperparameter tuning.</a:t>
            </a:r>
          </a:p>
          <a:p>
            <a:pPr marL="187325" indent="-174625">
              <a:lnSpc>
                <a:spcPct val="100000"/>
              </a:lnSpc>
              <a:spcBef>
                <a:spcPts val="555"/>
              </a:spcBef>
              <a:buClr>
                <a:srgbClr val="15E8C4"/>
              </a:buClr>
              <a:buFont typeface="Arial MT"/>
              <a:buChar char="■"/>
              <a:tabLst>
                <a:tab pos="187325" algn="l"/>
              </a:tabLst>
            </a:pPr>
            <a:endParaRPr sz="100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78400" y="713994"/>
            <a:ext cx="2780465" cy="667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 marR="5080" algn="r">
              <a:lnSpc>
                <a:spcPts val="2630"/>
              </a:lnSpc>
              <a:spcBef>
                <a:spcPts val="100"/>
              </a:spcBef>
            </a:pPr>
            <a:r>
              <a:rPr lang="en-US" sz="2000" b="1" i="0" dirty="0">
                <a:solidFill>
                  <a:srgbClr val="003F84"/>
                </a:solidFill>
                <a:effectLst/>
                <a:latin typeface="Poppins" panose="00000500000000000000" pitchFamily="2" charset="0"/>
              </a:rPr>
              <a:t>Detailed Overview of Fundus Datasets</a:t>
            </a:r>
            <a:endParaRPr sz="21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16572" y="1271129"/>
            <a:ext cx="3945254" cy="32137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580"/>
              </a:spcBef>
            </a:pPr>
            <a:r>
              <a:rPr lang="en-IN" b="1" i="0" dirty="0">
                <a:solidFill>
                  <a:srgbClr val="0A0F21"/>
                </a:solidFill>
                <a:effectLst/>
                <a:latin typeface="Poppins" panose="00000500000000000000" pitchFamily="2" charset="0"/>
              </a:rPr>
              <a:t>Grayscale Conversion</a:t>
            </a:r>
          </a:p>
          <a:p>
            <a:pPr marL="13335" algn="l">
              <a:spcBef>
                <a:spcPts val="580"/>
              </a:spcBef>
            </a:pPr>
            <a:r>
              <a:rPr lang="en-IN" sz="1200" b="0" i="0" dirty="0">
                <a:solidFill>
                  <a:srgbClr val="0A0F21"/>
                </a:solidFill>
                <a:effectLst/>
                <a:latin typeface="IBM Plex Sans" panose="020B0503050203000203" pitchFamily="34" charset="0"/>
              </a:rPr>
              <a:t>Transforming fundus images to grayscale enhances contrast for better analysis.</a:t>
            </a:r>
          </a:p>
          <a:p>
            <a:pPr marL="13335">
              <a:lnSpc>
                <a:spcPct val="100000"/>
              </a:lnSpc>
              <a:spcBef>
                <a:spcPts val="580"/>
              </a:spcBef>
            </a:pPr>
            <a:r>
              <a:rPr lang="en-US" sz="1200" b="1" i="0" dirty="0">
                <a:solidFill>
                  <a:srgbClr val="0A0F21"/>
                </a:solidFill>
                <a:effectLst/>
                <a:latin typeface="Poppins" panose="00000500000000000000" pitchFamily="2" charset="0"/>
              </a:rPr>
              <a:t>CLAHE (Contrast Limited Adaptive Histogram Equalization)</a:t>
            </a:r>
            <a:endParaRPr lang="en-IN" sz="1200" b="1" dirty="0">
              <a:solidFill>
                <a:srgbClr val="0A0F21"/>
              </a:solidFill>
              <a:latin typeface="Poppins" panose="00000500000000000000" pitchFamily="2" charset="0"/>
            </a:endParaRPr>
          </a:p>
          <a:p>
            <a:pPr marL="13335" algn="l">
              <a:spcBef>
                <a:spcPts val="580"/>
              </a:spcBef>
            </a:pPr>
            <a:r>
              <a:rPr lang="en-US" sz="1200" b="0" i="0" dirty="0">
                <a:solidFill>
                  <a:srgbClr val="0A0F21"/>
                </a:solidFill>
                <a:effectLst/>
                <a:latin typeface="IBM Plex Sans" panose="020B0503050203000203" pitchFamily="34" charset="0"/>
              </a:rPr>
              <a:t>Improves local contrast in the images, making vessels more distinct.</a:t>
            </a:r>
          </a:p>
          <a:p>
            <a:pPr marL="13335">
              <a:lnSpc>
                <a:spcPct val="100000"/>
              </a:lnSpc>
              <a:spcBef>
                <a:spcPts val="580"/>
              </a:spcBef>
            </a:pPr>
            <a:r>
              <a:rPr lang="en-IN" sz="1200" b="1" i="0" dirty="0">
                <a:solidFill>
                  <a:srgbClr val="0A0F21"/>
                </a:solidFill>
                <a:effectLst/>
                <a:latin typeface="Poppins" panose="00000500000000000000" pitchFamily="2" charset="0"/>
              </a:rPr>
              <a:t>Otsu’s Thresholding</a:t>
            </a:r>
          </a:p>
          <a:p>
            <a:pPr marL="13335" algn="l">
              <a:spcBef>
                <a:spcPts val="580"/>
              </a:spcBef>
            </a:pPr>
            <a:r>
              <a:rPr lang="en-US" sz="1200" b="0" i="0" dirty="0">
                <a:solidFill>
                  <a:srgbClr val="0A0F21"/>
                </a:solidFill>
                <a:effectLst/>
                <a:latin typeface="IBM Plex Sans" panose="020B0503050203000203" pitchFamily="34" charset="0"/>
              </a:rPr>
              <a:t>Automatically finds the optimal threshold for segmenting vessels from the background.</a:t>
            </a:r>
          </a:p>
          <a:p>
            <a:pPr marL="13335">
              <a:lnSpc>
                <a:spcPct val="100000"/>
              </a:lnSpc>
              <a:spcBef>
                <a:spcPts val="580"/>
              </a:spcBef>
            </a:pPr>
            <a:r>
              <a:rPr lang="en-IN" sz="1200" b="1" i="0" dirty="0">
                <a:solidFill>
                  <a:srgbClr val="0A0F21"/>
                </a:solidFill>
                <a:effectLst/>
                <a:latin typeface="Poppins" panose="00000500000000000000" pitchFamily="2" charset="0"/>
              </a:rPr>
              <a:t>Data Augmentation (Training Only)</a:t>
            </a:r>
            <a:endParaRPr lang="en-IN" sz="1200" b="1" dirty="0">
              <a:solidFill>
                <a:srgbClr val="0A0F21"/>
              </a:solidFill>
              <a:latin typeface="Poppins" panose="00000500000000000000" pitchFamily="2" charset="0"/>
            </a:endParaRPr>
          </a:p>
          <a:p>
            <a:pPr marL="13335" algn="l">
              <a:spcBef>
                <a:spcPts val="580"/>
              </a:spcBef>
            </a:pPr>
            <a:r>
              <a:rPr lang="en-US" sz="1200" b="0" i="0" dirty="0">
                <a:solidFill>
                  <a:srgbClr val="0A0F21"/>
                </a:solidFill>
                <a:effectLst/>
                <a:latin typeface="IBM Plex Sans" panose="020B0503050203000203" pitchFamily="34" charset="0"/>
              </a:rPr>
              <a:t>Applies transformations like rotation and scaling to increase training data diversity.</a:t>
            </a:r>
          </a:p>
          <a:p>
            <a:pPr marL="13335">
              <a:lnSpc>
                <a:spcPct val="100000"/>
              </a:lnSpc>
              <a:spcBef>
                <a:spcPts val="580"/>
              </a:spcBef>
            </a:pPr>
            <a:endParaRPr sz="90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574675">
              <a:lnSpc>
                <a:spcPts val="2540"/>
              </a:lnSpc>
              <a:spcBef>
                <a:spcPts val="215"/>
              </a:spcBef>
            </a:pPr>
            <a:r>
              <a:rPr dirty="0"/>
              <a:t>Methodology</a:t>
            </a:r>
            <a:r>
              <a:rPr spc="-105" dirty="0"/>
              <a:t> </a:t>
            </a:r>
            <a:r>
              <a:rPr spc="-25" dirty="0">
                <a:solidFill>
                  <a:srgbClr val="003F83"/>
                </a:solidFill>
              </a:rPr>
              <a:t>for </a:t>
            </a:r>
            <a:r>
              <a:rPr spc="-85" dirty="0">
                <a:solidFill>
                  <a:srgbClr val="013D83"/>
                </a:solidFill>
              </a:rPr>
              <a:t>Vessel</a:t>
            </a:r>
            <a:r>
              <a:rPr spc="-95" dirty="0">
                <a:solidFill>
                  <a:srgbClr val="013D83"/>
                </a:solidFill>
              </a:rPr>
              <a:t> </a:t>
            </a:r>
            <a:r>
              <a:rPr spc="-10" dirty="0">
                <a:solidFill>
                  <a:srgbClr val="003F87"/>
                </a:solidFill>
              </a:rPr>
              <a:t>Segmentotion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52144"/>
            <a:ext cx="387047" cy="22646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2475" y="368808"/>
            <a:ext cx="1505524" cy="403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6801" y="1008888"/>
            <a:ext cx="320167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600" dirty="0"/>
              <a:t>Architecture and Algorithms Used</a:t>
            </a:r>
            <a:br>
              <a:rPr lang="en-IN" sz="1600" dirty="0">
                <a:effectLst/>
              </a:rPr>
            </a:br>
            <a:endParaRPr sz="170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2214" y="1848611"/>
            <a:ext cx="3927475" cy="19979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buNone/>
            </a:pPr>
            <a:r>
              <a:rPr lang="en-IN" sz="800" dirty="0"/>
              <a:t>Composite Convolutional Block (per layer):</a:t>
            </a:r>
            <a:br>
              <a:rPr lang="en-IN" sz="800" dirty="0">
                <a:effectLst/>
              </a:rPr>
            </a:br>
            <a:endParaRPr lang="en-IN" sz="800" dirty="0">
              <a:effectLst/>
            </a:endParaRPr>
          </a:p>
          <a:p>
            <a:pPr>
              <a:buNone/>
            </a:pPr>
            <a:r>
              <a:rPr lang="en-IN" sz="800" dirty="0">
                <a:effectLst/>
              </a:rPr>
              <a:t>Separable Convolution + Linear Norm</a:t>
            </a:r>
          </a:p>
          <a:p>
            <a:pPr>
              <a:buNone/>
            </a:pPr>
            <a:br>
              <a:rPr lang="en-IN" sz="800" dirty="0">
                <a:effectLst/>
              </a:rPr>
            </a:br>
            <a:endParaRPr lang="en-IN" sz="800" dirty="0">
              <a:effectLst/>
            </a:endParaRPr>
          </a:p>
          <a:p>
            <a:pPr>
              <a:buNone/>
            </a:pPr>
            <a:r>
              <a:rPr lang="en-IN" sz="800" dirty="0">
                <a:effectLst/>
              </a:rPr>
              <a:t>Pointwise (1×1) Convolution + Linear Norm</a:t>
            </a:r>
          </a:p>
          <a:p>
            <a:pPr>
              <a:buNone/>
            </a:pPr>
            <a:br>
              <a:rPr lang="en-IN" sz="800" dirty="0">
                <a:effectLst/>
              </a:rPr>
            </a:br>
            <a:endParaRPr lang="en-IN" sz="800" dirty="0">
              <a:effectLst/>
            </a:endParaRPr>
          </a:p>
          <a:p>
            <a:pPr>
              <a:buNone/>
            </a:pPr>
            <a:r>
              <a:rPr lang="en-IN" sz="800" dirty="0">
                <a:effectLst/>
              </a:rPr>
              <a:t>3×3 Standard Convolution + Linear Norm</a:t>
            </a:r>
          </a:p>
          <a:p>
            <a:pPr>
              <a:buNone/>
            </a:pPr>
            <a:br>
              <a:rPr lang="en-IN" sz="800" dirty="0">
                <a:effectLst/>
              </a:rPr>
            </a:br>
            <a:endParaRPr lang="en-IN" sz="800" dirty="0">
              <a:effectLst/>
            </a:endParaRPr>
          </a:p>
          <a:p>
            <a:pPr>
              <a:buNone/>
            </a:pPr>
            <a:r>
              <a:rPr lang="en-IN" sz="800" dirty="0">
                <a:effectLst/>
              </a:rPr>
              <a:t>Outputs concatenated → Dense alignment layer → Consistent channel dimensionality.</a:t>
            </a:r>
          </a:p>
          <a:p>
            <a:pPr>
              <a:buNone/>
            </a:pPr>
            <a:br>
              <a:rPr lang="en-IN" sz="800" dirty="0">
                <a:effectLst/>
              </a:rPr>
            </a:br>
            <a:endParaRPr lang="en-IN" sz="800" dirty="0">
              <a:effectLst/>
            </a:endParaRPr>
          </a:p>
          <a:p>
            <a:pPr>
              <a:buNone/>
            </a:pPr>
            <a:br>
              <a:rPr lang="en-IN" sz="800" dirty="0">
                <a:effectLst/>
              </a:rPr>
            </a:br>
            <a:endParaRPr sz="900" dirty="0">
              <a:latin typeface="Arial Black"/>
              <a:cs typeface="Arial Blac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2085DF-FB2B-1260-8054-C8A352DBB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475" y="4189081"/>
            <a:ext cx="1505525" cy="2791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52144"/>
            <a:ext cx="387047" cy="22646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2475" y="368808"/>
            <a:ext cx="1505524" cy="403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6800" y="1127760"/>
            <a:ext cx="4089199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dirty="0"/>
              <a:t>Architecture and Algorithms Used</a:t>
            </a:r>
            <a:br>
              <a:rPr lang="en-IN" sz="1800" dirty="0">
                <a:effectLst/>
              </a:rPr>
            </a:br>
            <a:endParaRPr sz="170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2953" y="1701038"/>
            <a:ext cx="5138420" cy="22749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buNone/>
            </a:pPr>
            <a:r>
              <a:rPr lang="en-IN" sz="1050" dirty="0"/>
              <a:t>Encoder: Three such blocks, each followed by 2×2 max-pooling.</a:t>
            </a:r>
            <a:br>
              <a:rPr lang="en-IN" sz="1050" dirty="0">
                <a:effectLst/>
              </a:rPr>
            </a:br>
            <a:endParaRPr lang="en-IN" sz="1050" dirty="0">
              <a:effectLst/>
            </a:endParaRPr>
          </a:p>
          <a:p>
            <a:pPr>
              <a:buNone/>
            </a:pPr>
            <a:r>
              <a:rPr lang="en-IN" sz="1050" dirty="0">
                <a:effectLst/>
              </a:rPr>
              <a:t>Latent K-means Clustering: Flattened latent feature tensor (after encoder) → K=2 clusters → Reshaped cluster labels injected as auxiliary channel into decoder input.</a:t>
            </a:r>
          </a:p>
          <a:p>
            <a:pPr>
              <a:buNone/>
            </a:pPr>
            <a:br>
              <a:rPr lang="en-IN" sz="1050" dirty="0">
                <a:effectLst/>
              </a:rPr>
            </a:br>
            <a:endParaRPr lang="en-IN" sz="1050" dirty="0">
              <a:effectLst/>
            </a:endParaRPr>
          </a:p>
          <a:p>
            <a:pPr>
              <a:buNone/>
            </a:pPr>
            <a:r>
              <a:rPr lang="en-IN" sz="1050" dirty="0">
                <a:effectLst/>
              </a:rPr>
              <a:t>Decoder: Three </a:t>
            </a:r>
            <a:r>
              <a:rPr lang="en-IN" sz="1050" dirty="0" err="1">
                <a:effectLst/>
              </a:rPr>
              <a:t>upsampling</a:t>
            </a:r>
            <a:r>
              <a:rPr lang="en-IN" sz="1050" dirty="0">
                <a:effectLst/>
              </a:rPr>
              <a:t> blocks mirroring the encoder, skip-connections to corresponding encoder outputs.</a:t>
            </a:r>
          </a:p>
          <a:p>
            <a:pPr>
              <a:buNone/>
            </a:pPr>
            <a:br>
              <a:rPr lang="en-IN" sz="1050" dirty="0">
                <a:effectLst/>
              </a:rPr>
            </a:br>
            <a:endParaRPr lang="en-IN" sz="1050" dirty="0">
              <a:effectLst/>
            </a:endParaRPr>
          </a:p>
          <a:p>
            <a:pPr>
              <a:buNone/>
            </a:pPr>
            <a:br>
              <a:rPr lang="en-IN" sz="1050" dirty="0">
                <a:effectLst/>
              </a:rPr>
            </a:br>
            <a:endParaRPr lang="en-IN" sz="1050" dirty="0">
              <a:effectLst/>
            </a:endParaRPr>
          </a:p>
          <a:p>
            <a:pPr>
              <a:buNone/>
            </a:pPr>
            <a:br>
              <a:rPr lang="en-IN" sz="1050" dirty="0">
                <a:effectLst/>
              </a:rPr>
            </a:br>
            <a:endParaRPr sz="1050" dirty="0">
              <a:latin typeface="Arial Black"/>
              <a:cs typeface="Arial Blac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057A42-877F-54FD-61AE-45D87EB11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831" y="4191001"/>
            <a:ext cx="1505524" cy="2572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52144"/>
            <a:ext cx="387047" cy="22646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2475" y="368808"/>
            <a:ext cx="1505524" cy="403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6795" y="950721"/>
            <a:ext cx="3196590" cy="497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dirty="0"/>
              <a:t>Architecture and Algorithms Used</a:t>
            </a:r>
            <a:br>
              <a:rPr lang="en-IN" sz="1400" dirty="0">
                <a:effectLst/>
              </a:rPr>
            </a:br>
            <a:endParaRPr sz="175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9124" y="1530350"/>
            <a:ext cx="4394200" cy="2598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buNone/>
            </a:pPr>
            <a:r>
              <a:rPr lang="en-IN" sz="1050" dirty="0"/>
              <a:t>Modified DIT Algorithm:</a:t>
            </a:r>
          </a:p>
          <a:p>
            <a:pPr>
              <a:buNone/>
            </a:pPr>
            <a:br>
              <a:rPr lang="en-IN" sz="1050" dirty="0">
                <a:effectLst/>
              </a:rPr>
            </a:br>
            <a:endParaRPr lang="en-IN" sz="1050" dirty="0">
              <a:effectLst/>
            </a:endParaRPr>
          </a:p>
          <a:p>
            <a:pPr>
              <a:buNone/>
            </a:pPr>
            <a:r>
              <a:rPr lang="en-IN" sz="1050" dirty="0">
                <a:effectLst/>
              </a:rPr>
              <a:t>Compute high (</a:t>
            </a:r>
            <a:r>
              <a:rPr lang="el-GR" sz="1050" dirty="0">
                <a:effectLst/>
              </a:rPr>
              <a:t>γ</a:t>
            </a:r>
            <a:r>
              <a:rPr lang="en-IN" sz="1050" dirty="0">
                <a:effectLst/>
              </a:rPr>
              <a:t>ₕ) and low (</a:t>
            </a:r>
            <a:r>
              <a:rPr lang="el-GR" sz="1050" dirty="0">
                <a:effectLst/>
              </a:rPr>
              <a:t>γ</a:t>
            </a:r>
            <a:r>
              <a:rPr lang="en-IN" sz="1050" dirty="0">
                <a:effectLst/>
              </a:rPr>
              <a:t>ₗ) thresholds at 90th and 70th histogram percentiles.</a:t>
            </a:r>
          </a:p>
          <a:p>
            <a:pPr>
              <a:buNone/>
            </a:pPr>
            <a:endParaRPr lang="en-IN" sz="1050" dirty="0">
              <a:effectLst/>
            </a:endParaRPr>
          </a:p>
          <a:p>
            <a:pPr>
              <a:buNone/>
            </a:pPr>
            <a:r>
              <a:rPr lang="en-IN" sz="1050" dirty="0">
                <a:effectLst/>
              </a:rPr>
              <a:t>Strong vessel mask: pixels ≥ </a:t>
            </a:r>
            <a:r>
              <a:rPr lang="el-GR" sz="1050" dirty="0">
                <a:effectLst/>
              </a:rPr>
              <a:t>γ</a:t>
            </a:r>
            <a:r>
              <a:rPr lang="en-IN" sz="1050" dirty="0">
                <a:effectLst/>
              </a:rPr>
              <a:t>ₕ.</a:t>
            </a:r>
          </a:p>
          <a:p>
            <a:pPr>
              <a:buNone/>
            </a:pPr>
            <a:endParaRPr lang="en-IN" sz="1050" dirty="0">
              <a:effectLst/>
            </a:endParaRPr>
          </a:p>
          <a:p>
            <a:pPr>
              <a:buNone/>
            </a:pPr>
            <a:r>
              <a:rPr lang="en-IN" sz="1050" dirty="0">
                <a:effectLst/>
              </a:rPr>
              <a:t>Weak vessel mask: </a:t>
            </a:r>
            <a:r>
              <a:rPr lang="el-GR" sz="1050" dirty="0">
                <a:effectLst/>
              </a:rPr>
              <a:t>γ</a:t>
            </a:r>
            <a:r>
              <a:rPr lang="en-IN" sz="1050" dirty="0">
                <a:effectLst/>
              </a:rPr>
              <a:t>ₗ ≤ pixels </a:t>
            </a:r>
            <a:r>
              <a:rPr lang="el-GR" sz="1050" dirty="0">
                <a:effectLst/>
              </a:rPr>
              <a:t>γ</a:t>
            </a:r>
            <a:r>
              <a:rPr lang="en-IN" sz="1050" dirty="0">
                <a:effectLst/>
              </a:rPr>
              <a:t>ₕ.</a:t>
            </a:r>
            <a:br>
              <a:rPr lang="en-IN" sz="1050" dirty="0">
                <a:effectLst/>
              </a:rPr>
            </a:br>
            <a:endParaRPr lang="en-IN" sz="1050" dirty="0">
              <a:effectLst/>
            </a:endParaRPr>
          </a:p>
          <a:p>
            <a:pPr>
              <a:buNone/>
            </a:pPr>
            <a:r>
              <a:rPr lang="en-IN" sz="1050" dirty="0">
                <a:effectLst/>
              </a:rPr>
              <a:t>Iteratively add weak pixels connected to strong ones; remove isolated weak pixels.</a:t>
            </a:r>
          </a:p>
          <a:p>
            <a:pPr>
              <a:buNone/>
            </a:pPr>
            <a:endParaRPr lang="en-IN" sz="1050" dirty="0">
              <a:effectLst/>
            </a:endParaRPr>
          </a:p>
          <a:p>
            <a:pPr>
              <a:buNone/>
            </a:pPr>
            <a:r>
              <a:rPr lang="en-IN" sz="1050" dirty="0">
                <a:effectLst/>
              </a:rPr>
              <a:t>Morphological closing (3×3) to reconnect small gaps.</a:t>
            </a:r>
          </a:p>
          <a:p>
            <a:pPr>
              <a:buNone/>
            </a:pPr>
            <a:br>
              <a:rPr lang="en-IN" sz="1050" dirty="0">
                <a:effectLst/>
              </a:rPr>
            </a:br>
            <a:endParaRPr sz="1050" dirty="0">
              <a:latin typeface="Arial Black"/>
              <a:cs typeface="Arial Blac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A8D966-A8C8-4833-3154-68F0FB119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475" y="4203192"/>
            <a:ext cx="1505524" cy="2572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1143" y="396240"/>
            <a:ext cx="405333" cy="3779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9904" y="2170176"/>
            <a:ext cx="1276951" cy="4450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10234" y="223716"/>
            <a:ext cx="5476240" cy="621324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spc="-30" dirty="0">
                <a:solidFill>
                  <a:srgbClr val="003F83"/>
                </a:solidFill>
              </a:rPr>
              <a:t>Performance</a:t>
            </a:r>
            <a:r>
              <a:rPr spc="-50" dirty="0">
                <a:solidFill>
                  <a:srgbClr val="003F83"/>
                </a:solidFill>
              </a:rPr>
              <a:t> </a:t>
            </a:r>
            <a:r>
              <a:rPr dirty="0">
                <a:solidFill>
                  <a:srgbClr val="003F83"/>
                </a:solidFill>
              </a:rPr>
              <a:t>Metrics</a:t>
            </a:r>
            <a:r>
              <a:rPr spc="-135" dirty="0">
                <a:solidFill>
                  <a:srgbClr val="003F83"/>
                </a:solidFill>
              </a:rPr>
              <a:t> </a:t>
            </a:r>
            <a:r>
              <a:rPr dirty="0">
                <a:solidFill>
                  <a:srgbClr val="003F82"/>
                </a:solidFill>
              </a:rPr>
              <a:t>for</a:t>
            </a:r>
            <a:r>
              <a:rPr spc="-90" dirty="0">
                <a:solidFill>
                  <a:srgbClr val="003F82"/>
                </a:solidFill>
              </a:rPr>
              <a:t> </a:t>
            </a:r>
            <a:r>
              <a:rPr spc="-75" dirty="0">
                <a:solidFill>
                  <a:srgbClr val="013F82"/>
                </a:solidFill>
              </a:rPr>
              <a:t>Vessel</a:t>
            </a:r>
            <a:r>
              <a:rPr spc="-165" dirty="0">
                <a:solidFill>
                  <a:srgbClr val="013F82"/>
                </a:solidFill>
              </a:rPr>
              <a:t> </a:t>
            </a:r>
            <a:r>
              <a:rPr spc="-10" dirty="0">
                <a:solidFill>
                  <a:srgbClr val="003F80"/>
                </a:solidFill>
              </a:rPr>
              <a:t>Segmentotion</a:t>
            </a:r>
          </a:p>
          <a:p>
            <a:pPr marL="17145" algn="ctr">
              <a:lnSpc>
                <a:spcPct val="100000"/>
              </a:lnSpc>
              <a:spcBef>
                <a:spcPts val="345"/>
              </a:spcBef>
            </a:pPr>
            <a:r>
              <a:rPr lang="en-US" sz="1000" b="0" i="0" dirty="0">
                <a:solidFill>
                  <a:srgbClr val="323745"/>
                </a:solidFill>
                <a:effectLst/>
                <a:latin typeface="IBM Plex Sans" panose="020B0503050203000203" pitchFamily="34" charset="0"/>
              </a:rPr>
              <a:t>Comparative Analysis of Segmentation Results</a:t>
            </a:r>
            <a:endParaRPr sz="110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30400" y="1722627"/>
            <a:ext cx="702053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00" i="0" dirty="0">
                <a:solidFill>
                  <a:srgbClr val="0A0F21"/>
                </a:solidFill>
                <a:effectLst/>
                <a:latin typeface="Poppins" panose="00000500000000000000" pitchFamily="2" charset="0"/>
              </a:rPr>
              <a:t>Accuracy</a:t>
            </a:r>
            <a:endParaRPr sz="1000" dirty="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71589" y="2299461"/>
            <a:ext cx="35242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0F0F0F"/>
                </a:solidFill>
                <a:latin typeface="Times New Roman"/>
                <a:cs typeface="Times New Roman"/>
              </a:rPr>
              <a:t>0.9203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70579" y="2829560"/>
            <a:ext cx="3492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75" dirty="0">
                <a:solidFill>
                  <a:srgbClr val="0E0E0E"/>
                </a:solidFill>
                <a:latin typeface="Consolas"/>
                <a:cs typeface="Consolas"/>
              </a:rPr>
              <a:t>0.9455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62712" y="3369055"/>
            <a:ext cx="3549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5" dirty="0">
                <a:solidFill>
                  <a:srgbClr val="0E0E0E"/>
                </a:solidFill>
                <a:latin typeface="Courier New"/>
                <a:cs typeface="Courier New"/>
              </a:rPr>
              <a:t>0.9436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21000" y="1716277"/>
            <a:ext cx="756103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50" i="0" dirty="0">
                <a:solidFill>
                  <a:srgbClr val="0A0F21"/>
                </a:solidFill>
                <a:effectLst/>
                <a:latin typeface="Poppins" panose="00000500000000000000" pitchFamily="2" charset="0"/>
              </a:rPr>
              <a:t>Sensitivity</a:t>
            </a:r>
            <a:endParaRPr sz="1050" dirty="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8009" y="2305811"/>
            <a:ext cx="35242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45" dirty="0">
                <a:solidFill>
                  <a:srgbClr val="0E0E0E"/>
                </a:solidFill>
                <a:latin typeface="Times New Roman"/>
                <a:cs typeface="Times New Roman"/>
              </a:rPr>
              <a:t>0.77</a:t>
            </a:r>
            <a:r>
              <a:rPr sz="800" spc="45" dirty="0">
                <a:solidFill>
                  <a:srgbClr val="0F0F0F"/>
                </a:solidFill>
                <a:latin typeface="Times New Roman"/>
                <a:cs typeface="Times New Roman"/>
              </a:rPr>
              <a:t>21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98902" y="2829560"/>
            <a:ext cx="3587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0" dirty="0">
                <a:solidFill>
                  <a:srgbClr val="0C0C0C"/>
                </a:solidFill>
                <a:latin typeface="Courier New"/>
                <a:cs typeface="Courier New"/>
              </a:rPr>
              <a:t>0.8014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07779" y="3375405"/>
            <a:ext cx="3460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0F0F0F"/>
                </a:solidFill>
                <a:latin typeface="Times New Roman"/>
                <a:cs typeface="Times New Roman"/>
              </a:rPr>
              <a:t>0.7892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32737" y="1732026"/>
            <a:ext cx="62865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0C0C0C"/>
                </a:solidFill>
                <a:latin typeface="Arial MT"/>
                <a:cs typeface="Arial MT"/>
              </a:rPr>
              <a:t>Specificity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76485" y="2293111"/>
            <a:ext cx="3454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80" dirty="0">
                <a:solidFill>
                  <a:srgbClr val="0F0F0F"/>
                </a:solidFill>
                <a:latin typeface="Consolas"/>
                <a:cs typeface="Consolas"/>
              </a:rPr>
              <a:t>0.9754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77494" y="2835910"/>
            <a:ext cx="3460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0F0F0F"/>
                </a:solidFill>
                <a:latin typeface="Times New Roman"/>
                <a:cs typeface="Times New Roman"/>
              </a:rPr>
              <a:t>0.9867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77494" y="3375405"/>
            <a:ext cx="34925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0F0F0F"/>
                </a:solidFill>
                <a:latin typeface="Times New Roman"/>
                <a:cs typeface="Times New Roman"/>
              </a:rPr>
              <a:t>0.9845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85595" y="1728977"/>
            <a:ext cx="5892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0F0F0F"/>
                </a:solidFill>
                <a:latin typeface="Times New Roman"/>
                <a:cs typeface="Times New Roman"/>
              </a:rPr>
              <a:t>AUC-</a:t>
            </a:r>
            <a:r>
              <a:rPr sz="950" spc="-25" dirty="0">
                <a:solidFill>
                  <a:srgbClr val="0F0F0F"/>
                </a:solidFill>
                <a:latin typeface="Times New Roman"/>
                <a:cs typeface="Times New Roman"/>
              </a:rPr>
              <a:t>ROC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01759" y="2293111"/>
            <a:ext cx="3549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5" dirty="0">
                <a:solidFill>
                  <a:srgbClr val="0F0F0F"/>
                </a:solidFill>
                <a:latin typeface="Courier New"/>
                <a:cs typeface="Courier New"/>
              </a:rPr>
              <a:t>0.9632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10637" y="2835910"/>
            <a:ext cx="35242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0F0F0F"/>
                </a:solidFill>
                <a:latin typeface="Times New Roman"/>
                <a:cs typeface="Times New Roman"/>
              </a:rPr>
              <a:t>0.9758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10866" y="3381755"/>
            <a:ext cx="3606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55" dirty="0">
                <a:solidFill>
                  <a:srgbClr val="0E0E0E"/>
                </a:solidFill>
                <a:latin typeface="Times New Roman"/>
                <a:cs typeface="Times New Roman"/>
              </a:rPr>
              <a:t>0.9721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63332" y="1732026"/>
            <a:ext cx="93471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0F0F0F"/>
                </a:solidFill>
                <a:latin typeface="Times New Roman"/>
                <a:cs typeface="Times New Roman"/>
              </a:rPr>
              <a:t>Dice</a:t>
            </a:r>
            <a:r>
              <a:rPr sz="950" spc="14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950" spc="40" dirty="0">
                <a:solidFill>
                  <a:srgbClr val="0E0E0E"/>
                </a:solidFill>
                <a:latin typeface="Times New Roman"/>
                <a:cs typeface="Times New Roman"/>
              </a:rPr>
              <a:t>Coefficient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56102" y="2293111"/>
            <a:ext cx="3492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75" dirty="0">
                <a:solidFill>
                  <a:srgbClr val="0C0C0C"/>
                </a:solidFill>
                <a:latin typeface="Consolas"/>
                <a:cs typeface="Consolas"/>
              </a:rPr>
              <a:t>0.8205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56102" y="2829560"/>
            <a:ext cx="3454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80" dirty="0">
                <a:solidFill>
                  <a:srgbClr val="0E0E0E"/>
                </a:solidFill>
                <a:latin typeface="Consolas"/>
                <a:cs typeface="Consolas"/>
              </a:rPr>
              <a:t>0.8543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57114" y="3375405"/>
            <a:ext cx="34925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0C0C0C"/>
                </a:solidFill>
                <a:latin typeface="Times New Roman"/>
                <a:cs typeface="Times New Roman"/>
              </a:rPr>
              <a:t>0.8467</a:t>
            </a:r>
            <a:endParaRPr sz="850">
              <a:latin typeface="Times New Roman"/>
              <a:cs typeface="Times New Roman"/>
            </a:endParaRPr>
          </a:p>
        </p:txBody>
      </p:sp>
      <p:pic>
        <p:nvPicPr>
          <p:cNvPr id="25" name="object 3">
            <a:extLst>
              <a:ext uri="{FF2B5EF4-FFF2-40B4-BE49-F238E27FC236}">
                <a16:creationId xmlns:a16="http://schemas.microsoft.com/office/drawing/2014/main" id="{29A2B022-CDD4-7559-8BEF-F03E107D1AE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7982" y="2688336"/>
            <a:ext cx="1276951" cy="44500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F348BB0-84CA-F5A4-B5BE-B3A166170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97" y="2778783"/>
            <a:ext cx="1050074" cy="21206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9B98A53-8141-4F76-0435-C8E1DD6C25CB}"/>
              </a:ext>
            </a:extLst>
          </p:cNvPr>
          <p:cNvSpPr txBox="1"/>
          <p:nvPr/>
        </p:nvSpPr>
        <p:spPr>
          <a:xfrm>
            <a:off x="561787" y="2778783"/>
            <a:ext cx="762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STARE</a:t>
            </a:r>
          </a:p>
        </p:txBody>
      </p:sp>
      <p:pic>
        <p:nvPicPr>
          <p:cNvPr id="29" name="object 3">
            <a:extLst>
              <a:ext uri="{FF2B5EF4-FFF2-40B4-BE49-F238E27FC236}">
                <a16:creationId xmlns:a16="http://schemas.microsoft.com/office/drawing/2014/main" id="{1642526F-01C0-0389-E6A4-6F7CDB0D418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3160" y="3230902"/>
            <a:ext cx="1276951" cy="44500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EAC55B6-D9B6-D0D4-5B27-E55D240B4A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085" y="3399972"/>
            <a:ext cx="762000" cy="10522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C9F068B-BC32-B461-9E84-B073B9762495}"/>
              </a:ext>
            </a:extLst>
          </p:cNvPr>
          <p:cNvSpPr txBox="1"/>
          <p:nvPr/>
        </p:nvSpPr>
        <p:spPr>
          <a:xfrm>
            <a:off x="583160" y="3369055"/>
            <a:ext cx="6688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DRIVE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6614" y="566928"/>
            <a:ext cx="73025" cy="10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50" dirty="0">
                <a:solidFill>
                  <a:srgbClr val="FFFFFF"/>
                </a:solidFill>
                <a:latin typeface="Arial MT"/>
                <a:cs typeface="Arial MT"/>
              </a:rPr>
              <a:t>|{IIi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5369" y="566928"/>
            <a:ext cx="87630" cy="10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20" dirty="0">
                <a:solidFill>
                  <a:srgbClr val="FFFFFF"/>
                </a:solidFill>
                <a:latin typeface="Arial MT"/>
                <a:cs typeface="Arial MT"/>
              </a:rPr>
              <a:t>ills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9197" y="387858"/>
            <a:ext cx="1743710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50" spc="-60" dirty="0">
                <a:solidFill>
                  <a:schemeClr val="tx1"/>
                </a:solidFill>
              </a:rPr>
              <a:t>Conclusion</a:t>
            </a:r>
            <a:endParaRPr sz="2850" dirty="0">
              <a:solidFill>
                <a:schemeClr val="tx1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9197" y="914400"/>
            <a:ext cx="4618355" cy="2846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850" spc="-75" dirty="0">
                <a:solidFill>
                  <a:schemeClr val="tx1"/>
                </a:solidFill>
                <a:latin typeface="Arial MT"/>
                <a:cs typeface="Arial MT"/>
              </a:rPr>
              <a:t>Key</a:t>
            </a:r>
            <a:r>
              <a:rPr sz="850" spc="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Strengths:</a:t>
            </a:r>
            <a:endParaRPr sz="850" dirty="0">
              <a:solidFill>
                <a:schemeClr val="tx1"/>
              </a:solidFill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85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14604" marR="412750" indent="-1905">
              <a:lnSpc>
                <a:spcPct val="115300"/>
              </a:lnSpc>
            </a:pPr>
            <a:r>
              <a:rPr sz="850" spc="-95" dirty="0">
                <a:solidFill>
                  <a:schemeClr val="tx1"/>
                </a:solidFill>
                <a:latin typeface="Arial MT"/>
                <a:cs typeface="Arial MT"/>
              </a:rPr>
              <a:t>Mu</a:t>
            </a:r>
            <a:r>
              <a:rPr sz="850" spc="-10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35" dirty="0">
                <a:solidFill>
                  <a:schemeClr val="tx1"/>
                </a:solidFill>
                <a:latin typeface="Arial MT"/>
                <a:cs typeface="Arial MT"/>
              </a:rPr>
              <a:t>fti-</a:t>
            </a:r>
            <a:r>
              <a:rPr sz="850" spc="-40" dirty="0">
                <a:solidFill>
                  <a:schemeClr val="tx1"/>
                </a:solidFill>
                <a:latin typeface="Arial MT"/>
                <a:cs typeface="Arial MT"/>
              </a:rPr>
              <a:t>Scale</a:t>
            </a:r>
            <a:r>
              <a:rPr sz="85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40" dirty="0">
                <a:solidFill>
                  <a:schemeClr val="tx1"/>
                </a:solidFill>
                <a:latin typeface="Arial MT"/>
                <a:cs typeface="Arial MT"/>
              </a:rPr>
              <a:t>Feature</a:t>
            </a:r>
            <a:r>
              <a:rPr sz="85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40" dirty="0">
                <a:solidFill>
                  <a:schemeClr val="tx1"/>
                </a:solidFill>
                <a:latin typeface="Arial MT"/>
                <a:cs typeface="Arial MT"/>
              </a:rPr>
              <a:t>Learning:</a:t>
            </a:r>
            <a:r>
              <a:rPr sz="850" spc="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40" dirty="0">
                <a:solidFill>
                  <a:schemeClr val="tx1"/>
                </a:solidFill>
                <a:latin typeface="Arial MT"/>
                <a:cs typeface="Arial MT"/>
              </a:rPr>
              <a:t>Composite</a:t>
            </a:r>
            <a:r>
              <a:rPr sz="850" spc="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25" dirty="0">
                <a:solidFill>
                  <a:schemeClr val="tx1"/>
                </a:solidFill>
                <a:latin typeface="Arial MT"/>
                <a:cs typeface="Arial MT"/>
              </a:rPr>
              <a:t>blocks</a:t>
            </a:r>
            <a:r>
              <a:rPr sz="850" spc="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30" dirty="0">
                <a:solidFill>
                  <a:schemeClr val="tx1"/>
                </a:solidFill>
                <a:latin typeface="Arial MT"/>
                <a:cs typeface="Arial MT"/>
              </a:rPr>
              <a:t>capture</a:t>
            </a:r>
            <a:r>
              <a:rPr sz="850" spc="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chemeClr val="tx1"/>
                </a:solidFill>
                <a:latin typeface="Arial MT"/>
                <a:cs typeface="Arial MT"/>
              </a:rPr>
              <a:t>both</a:t>
            </a:r>
            <a:r>
              <a:rPr sz="85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chemeClr val="tx1"/>
                </a:solidFill>
                <a:latin typeface="Arial MT"/>
                <a:cs typeface="Arial MT"/>
              </a:rPr>
              <a:t>fine</a:t>
            </a:r>
            <a:r>
              <a:rPr sz="85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65" dirty="0">
                <a:solidFill>
                  <a:schemeClr val="tx1"/>
                </a:solidFill>
                <a:latin typeface="Arial MT"/>
                <a:cs typeface="Arial MT"/>
              </a:rPr>
              <a:t>and</a:t>
            </a:r>
            <a:r>
              <a:rPr sz="85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45" dirty="0">
                <a:solidFill>
                  <a:schemeClr val="tx1"/>
                </a:solidFill>
                <a:latin typeface="Arial MT"/>
                <a:cs typeface="Arial MT"/>
              </a:rPr>
              <a:t>coarse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40" dirty="0">
                <a:solidFill>
                  <a:schemeClr val="tx1"/>
                </a:solidFill>
                <a:latin typeface="Arial MT"/>
                <a:cs typeface="Arial MT"/>
              </a:rPr>
              <a:t>vessel</a:t>
            </a:r>
            <a:r>
              <a:rPr sz="85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patterns simultaneously.</a:t>
            </a:r>
            <a:endParaRPr sz="850" dirty="0">
              <a:solidFill>
                <a:schemeClr val="tx1"/>
              </a:solidFill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85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13970" marR="327660" indent="-1270">
              <a:lnSpc>
                <a:spcPct val="112900"/>
              </a:lnSpc>
              <a:spcBef>
                <a:spcPts val="5"/>
              </a:spcBef>
            </a:pPr>
            <a:r>
              <a:rPr sz="850" spc="-35" dirty="0">
                <a:solidFill>
                  <a:schemeClr val="tx1"/>
                </a:solidFill>
                <a:latin typeface="Arial MT"/>
                <a:cs typeface="Arial MT"/>
              </a:rPr>
              <a:t>Clustering</a:t>
            </a:r>
            <a:r>
              <a:rPr sz="85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30" dirty="0">
                <a:solidFill>
                  <a:schemeClr val="tx1"/>
                </a:solidFill>
                <a:latin typeface="Arial MT"/>
                <a:cs typeface="Arial MT"/>
              </a:rPr>
              <a:t>Boost:</a:t>
            </a:r>
            <a:r>
              <a:rPr sz="85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55" dirty="0">
                <a:solidFill>
                  <a:schemeClr val="tx1"/>
                </a:solidFill>
                <a:latin typeface="Arial MT"/>
                <a:cs typeface="Arial MT"/>
              </a:rPr>
              <a:t>K-</a:t>
            </a:r>
            <a:r>
              <a:rPr sz="850" spc="-45" dirty="0">
                <a:solidFill>
                  <a:schemeClr val="tx1"/>
                </a:solidFill>
                <a:latin typeface="Arial MT"/>
                <a:cs typeface="Arial MT"/>
              </a:rPr>
              <a:t>means</a:t>
            </a:r>
            <a:r>
              <a:rPr sz="850" spc="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chemeClr val="tx1"/>
                </a:solidFill>
                <a:latin typeface="Arial MT"/>
                <a:cs typeface="Arial MT"/>
              </a:rPr>
              <a:t>in</a:t>
            </a:r>
            <a:r>
              <a:rPr sz="85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latent</a:t>
            </a:r>
            <a:r>
              <a:rPr sz="850" spc="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55" dirty="0">
                <a:solidFill>
                  <a:schemeClr val="tx1"/>
                </a:solidFill>
                <a:latin typeface="Arial MT"/>
                <a:cs typeface="Arial MT"/>
              </a:rPr>
              <a:t>space</a:t>
            </a:r>
            <a:r>
              <a:rPr sz="8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chemeClr val="tx1"/>
                </a:solidFill>
                <a:latin typeface="Arial MT"/>
                <a:cs typeface="Arial MT"/>
              </a:rPr>
              <a:t>clarifies</a:t>
            </a:r>
            <a:r>
              <a:rPr sz="850" spc="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40" dirty="0">
                <a:solidFill>
                  <a:schemeClr val="tx1"/>
                </a:solidFill>
                <a:latin typeface="Arial MT"/>
                <a:cs typeface="Arial MT"/>
              </a:rPr>
              <a:t>ambiguous</a:t>
            </a:r>
            <a:r>
              <a:rPr sz="850" spc="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40" dirty="0">
                <a:solidFill>
                  <a:schemeClr val="tx1"/>
                </a:solidFill>
                <a:latin typeface="Arial MT"/>
                <a:cs typeface="Arial MT"/>
              </a:rPr>
              <a:t>regions,</a:t>
            </a:r>
            <a:r>
              <a:rPr sz="85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30" dirty="0">
                <a:solidFill>
                  <a:schemeClr val="tx1"/>
                </a:solidFill>
                <a:latin typeface="Arial MT"/>
                <a:cs typeface="Arial MT"/>
              </a:rPr>
              <a:t>improving</a:t>
            </a:r>
            <a:r>
              <a:rPr sz="8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35" dirty="0">
                <a:solidFill>
                  <a:schemeClr val="tx1"/>
                </a:solidFill>
                <a:latin typeface="Arial MT"/>
                <a:cs typeface="Arial MT"/>
              </a:rPr>
              <a:t>separation</a:t>
            </a:r>
            <a:r>
              <a:rPr sz="850" spc="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25" dirty="0">
                <a:solidFill>
                  <a:schemeClr val="tx1"/>
                </a:solidFill>
                <a:latin typeface="Arial MT"/>
                <a:cs typeface="Arial MT"/>
              </a:rPr>
              <a:t>of </a:t>
            </a:r>
            <a:r>
              <a:rPr sz="850" spc="-40" dirty="0">
                <a:solidFill>
                  <a:schemeClr val="tx1"/>
                </a:solidFill>
                <a:latin typeface="Arial MT"/>
                <a:cs typeface="Arial MT"/>
              </a:rPr>
              <a:t>vessels</a:t>
            </a:r>
            <a:r>
              <a:rPr sz="850" spc="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55" dirty="0">
                <a:solidFill>
                  <a:schemeClr val="tx1"/>
                </a:solidFill>
                <a:latin typeface="Arial MT"/>
                <a:cs typeface="Arial MT"/>
              </a:rPr>
              <a:t>vs.</a:t>
            </a:r>
            <a:r>
              <a:rPr sz="85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background.</a:t>
            </a:r>
            <a:endParaRPr sz="850" dirty="0">
              <a:solidFill>
                <a:schemeClr val="tx1"/>
              </a:solidFill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85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13970" marR="9525" indent="-1905">
              <a:lnSpc>
                <a:spcPct val="112900"/>
              </a:lnSpc>
              <a:spcBef>
                <a:spcPts val="5"/>
              </a:spcBef>
            </a:pPr>
            <a:r>
              <a:rPr sz="850" spc="-45" dirty="0">
                <a:solidFill>
                  <a:schemeClr val="tx1"/>
                </a:solidFill>
                <a:latin typeface="Arial MT"/>
                <a:cs typeface="Arial MT"/>
              </a:rPr>
              <a:t>Robust</a:t>
            </a:r>
            <a:r>
              <a:rPr sz="850" spc="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45" dirty="0">
                <a:solidFill>
                  <a:schemeClr val="tx1"/>
                </a:solidFill>
                <a:latin typeface="Arial MT"/>
                <a:cs typeface="Arial MT"/>
              </a:rPr>
              <a:t>Post-</a:t>
            </a:r>
            <a:r>
              <a:rPr sz="850" spc="-40" dirty="0">
                <a:solidFill>
                  <a:schemeClr val="tx1"/>
                </a:solidFill>
                <a:latin typeface="Arial MT"/>
                <a:cs typeface="Arial MT"/>
              </a:rPr>
              <a:t>Processing:</a:t>
            </a:r>
            <a:r>
              <a:rPr sz="85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40" dirty="0">
                <a:solidFill>
                  <a:schemeClr val="tx1"/>
                </a:solidFill>
                <a:latin typeface="Arial MT"/>
                <a:cs typeface="Arial MT"/>
              </a:rPr>
              <a:t>Dynamic</a:t>
            </a:r>
            <a:r>
              <a:rPr sz="850" spc="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45" dirty="0">
                <a:solidFill>
                  <a:schemeClr val="tx1"/>
                </a:solidFill>
                <a:latin typeface="Arial MT"/>
                <a:cs typeface="Arial MT"/>
              </a:rPr>
              <a:t>DIT</a:t>
            </a:r>
            <a:r>
              <a:rPr sz="85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chemeClr val="tx1"/>
                </a:solidFill>
                <a:latin typeface="Arial MT"/>
                <a:cs typeface="Arial MT"/>
              </a:rPr>
              <a:t>thresholds</a:t>
            </a:r>
            <a:r>
              <a:rPr sz="850" spc="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65" dirty="0">
                <a:solidFill>
                  <a:schemeClr val="tx1"/>
                </a:solidFill>
                <a:latin typeface="Arial MT"/>
                <a:cs typeface="Arial MT"/>
              </a:rPr>
              <a:t>adaDt</a:t>
            </a:r>
            <a:r>
              <a:rPr sz="850" spc="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chemeClr val="tx1"/>
                </a:solidFill>
                <a:latin typeface="Arial MT"/>
                <a:cs typeface="Arial MT"/>
              </a:rPr>
              <a:t>to</a:t>
            </a:r>
            <a:r>
              <a:rPr sz="850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55" dirty="0">
                <a:solidFill>
                  <a:schemeClr val="tx1"/>
                </a:solidFill>
                <a:latin typeface="Arial MT"/>
                <a:cs typeface="Arial MT"/>
              </a:rPr>
              <a:t>image</a:t>
            </a:r>
            <a:r>
              <a:rPr sz="85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chemeClr val="tx1"/>
                </a:solidFill>
                <a:latin typeface="Arial MT"/>
                <a:cs typeface="Arial MT"/>
              </a:rPr>
              <a:t>contrast,</a:t>
            </a:r>
            <a:r>
              <a:rPr sz="850" spc="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40" dirty="0">
                <a:solidFill>
                  <a:schemeClr val="tx1"/>
                </a:solidFill>
                <a:latin typeface="Arial MT"/>
                <a:cs typeface="Arial MT"/>
              </a:rPr>
              <a:t>oreserving</a:t>
            </a:r>
            <a:r>
              <a:rPr sz="85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continuity</a:t>
            </a:r>
            <a:r>
              <a:rPr sz="850" spc="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while </a:t>
            </a:r>
            <a:r>
              <a:rPr sz="850" spc="-40" dirty="0">
                <a:solidFill>
                  <a:schemeClr val="tx1"/>
                </a:solidFill>
                <a:latin typeface="Arial MT"/>
                <a:cs typeface="Arial MT"/>
              </a:rPr>
              <a:t>removing</a:t>
            </a:r>
            <a:r>
              <a:rPr sz="850" spc="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noise.</a:t>
            </a:r>
            <a:endParaRPr sz="850" dirty="0">
              <a:solidFill>
                <a:schemeClr val="tx1"/>
              </a:solidFill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5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14604" marR="137160" indent="-2540">
              <a:lnSpc>
                <a:spcPct val="112900"/>
              </a:lnSpc>
            </a:pPr>
            <a:r>
              <a:rPr sz="850" spc="-35" dirty="0">
                <a:solidFill>
                  <a:schemeClr val="tx1"/>
                </a:solidFill>
                <a:latin typeface="Arial MT"/>
                <a:cs typeface="Arial MT"/>
              </a:rPr>
              <a:t>Generalization:</a:t>
            </a:r>
            <a:r>
              <a:rPr sz="850" spc="-40" dirty="0">
                <a:solidFill>
                  <a:schemeClr val="tx1"/>
                </a:solidFill>
                <a:latin typeface="Arial MT"/>
                <a:cs typeface="Arial MT"/>
              </a:rPr>
              <a:t> Consistent</a:t>
            </a:r>
            <a:r>
              <a:rPr sz="850" spc="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50" dirty="0">
                <a:solidFill>
                  <a:schemeClr val="tx1"/>
                </a:solidFill>
                <a:latin typeface="Arial MT"/>
                <a:cs typeface="Arial MT"/>
              </a:rPr>
              <a:t>gains</a:t>
            </a:r>
            <a:r>
              <a:rPr sz="850" spc="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35" dirty="0">
                <a:solidFill>
                  <a:schemeClr val="tx1"/>
                </a:solidFill>
                <a:latin typeface="Arial MT"/>
                <a:cs typeface="Arial MT"/>
              </a:rPr>
              <a:t>across</a:t>
            </a:r>
            <a:r>
              <a:rPr sz="850" spc="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chemeClr val="tx1"/>
                </a:solidFill>
                <a:latin typeface="Arial MT"/>
                <a:cs typeface="Arial MT"/>
              </a:rPr>
              <a:t>pediatric</a:t>
            </a:r>
            <a:r>
              <a:rPr sz="850" spc="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65" dirty="0">
                <a:solidFill>
                  <a:schemeClr val="tx1"/>
                </a:solidFill>
                <a:latin typeface="Arial MT"/>
                <a:cs typeface="Arial MT"/>
              </a:rPr>
              <a:t>(CHASE</a:t>
            </a:r>
            <a:r>
              <a:rPr sz="850" spc="27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40" dirty="0">
                <a:solidFill>
                  <a:schemeClr val="tx1"/>
                </a:solidFill>
                <a:latin typeface="Arial MT"/>
                <a:cs typeface="Arial MT"/>
              </a:rPr>
              <a:t>DB1),</a:t>
            </a:r>
            <a:r>
              <a:rPr sz="85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30" dirty="0">
                <a:solidFill>
                  <a:schemeClr val="tx1"/>
                </a:solidFill>
                <a:latin typeface="Arial MT"/>
                <a:cs typeface="Arial MT"/>
              </a:rPr>
              <a:t>pathological</a:t>
            </a:r>
            <a:r>
              <a:rPr sz="850" spc="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130" dirty="0">
                <a:solidFill>
                  <a:schemeClr val="tx1"/>
                </a:solidFill>
                <a:latin typeface="Arial MT"/>
                <a:cs typeface="Arial MT"/>
              </a:rPr>
              <a:t>(STARED,</a:t>
            </a:r>
            <a:r>
              <a:rPr sz="850" spc="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55" dirty="0">
                <a:solidFill>
                  <a:schemeClr val="tx1"/>
                </a:solidFill>
                <a:latin typeface="Arial MT"/>
                <a:cs typeface="Arial MT"/>
              </a:rPr>
              <a:t>and</a:t>
            </a:r>
            <a:r>
              <a:rPr sz="850" spc="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diabetic </a:t>
            </a:r>
            <a:r>
              <a:rPr sz="850" spc="-60" dirty="0">
                <a:solidFill>
                  <a:schemeClr val="tx1"/>
                </a:solidFill>
                <a:latin typeface="Arial MT"/>
                <a:cs typeface="Arial MT"/>
              </a:rPr>
              <a:t>(DRIVE)</a:t>
            </a:r>
            <a:r>
              <a:rPr sz="850" spc="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25" dirty="0">
                <a:solidFill>
                  <a:schemeClr val="tx1"/>
                </a:solidFill>
                <a:latin typeface="Arial MT"/>
                <a:cs typeface="Arial MT"/>
              </a:rPr>
              <a:t>datasets</a:t>
            </a:r>
            <a:r>
              <a:rPr sz="850" spc="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35" dirty="0">
                <a:solidFill>
                  <a:schemeClr val="tx1"/>
                </a:solidFill>
                <a:latin typeface="Arial MT"/>
                <a:cs typeface="Arial MT"/>
              </a:rPr>
              <a:t>demonstrate</a:t>
            </a:r>
            <a:r>
              <a:rPr sz="850" spc="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adaptability.</a:t>
            </a:r>
            <a:endParaRPr sz="850" dirty="0">
              <a:solidFill>
                <a:schemeClr val="tx1"/>
              </a:solidFill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85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13335" marR="5080" indent="-635">
              <a:lnSpc>
                <a:spcPct val="115300"/>
              </a:lnSpc>
            </a:pPr>
            <a:r>
              <a:rPr sz="850" spc="-35" dirty="0">
                <a:solidFill>
                  <a:schemeClr val="tx1"/>
                </a:solidFill>
                <a:latin typeface="Arial MT"/>
                <a:cs typeface="Arial MT"/>
              </a:rPr>
              <a:t>Computational</a:t>
            </a:r>
            <a:r>
              <a:rPr sz="850" spc="6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45" dirty="0">
                <a:solidFill>
                  <a:schemeClr val="tx1"/>
                </a:solidFill>
                <a:latin typeface="Arial MT"/>
                <a:cs typeface="Arial MT"/>
              </a:rPr>
              <a:t>Trade-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Off.</a:t>
            </a:r>
            <a:r>
              <a:rPr sz="850" spc="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35" dirty="0">
                <a:solidFill>
                  <a:schemeClr val="tx1"/>
                </a:solidFill>
                <a:latin typeface="Arial MT"/>
                <a:cs typeface="Arial MT"/>
              </a:rPr>
              <a:t>Clustering</a:t>
            </a:r>
            <a:r>
              <a:rPr sz="8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65" dirty="0">
                <a:solidFill>
                  <a:schemeClr val="tx1"/>
                </a:solidFill>
                <a:latin typeface="Arial MT"/>
                <a:cs typeface="Arial MT"/>
              </a:rPr>
              <a:t>and</a:t>
            </a:r>
            <a:r>
              <a:rPr sz="85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chemeClr val="tx1"/>
                </a:solidFill>
                <a:latin typeface="Arial MT"/>
                <a:cs typeface="Arial MT"/>
              </a:rPr>
              <a:t>iterative</a:t>
            </a:r>
            <a:r>
              <a:rPr sz="850" spc="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30" dirty="0">
                <a:solidFill>
                  <a:schemeClr val="tx1"/>
                </a:solidFill>
                <a:latin typeface="Arial MT"/>
                <a:cs typeface="Arial MT"/>
              </a:rPr>
              <a:t>thresholding</a:t>
            </a:r>
            <a:r>
              <a:rPr sz="85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chemeClr val="tx1"/>
                </a:solidFill>
                <a:latin typeface="Arial MT"/>
                <a:cs typeface="Arial MT"/>
              </a:rPr>
              <a:t>add</a:t>
            </a:r>
            <a:r>
              <a:rPr sz="850" spc="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chemeClr val="tx1"/>
                </a:solidFill>
                <a:latin typeface="Arial MT"/>
                <a:cs typeface="Arial MT"/>
              </a:rPr>
              <a:t>-20%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chemeClr val="tx1"/>
                </a:solidFill>
                <a:latin typeface="Arial MT"/>
                <a:cs typeface="Arial MT"/>
              </a:rPr>
              <a:t>to</a:t>
            </a:r>
            <a:r>
              <a:rPr sz="85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30" dirty="0">
                <a:solidFill>
                  <a:schemeClr val="tx1"/>
                </a:solidFill>
                <a:latin typeface="Arial MT"/>
                <a:cs typeface="Arial MT"/>
              </a:rPr>
              <a:t>inference</a:t>
            </a:r>
            <a:r>
              <a:rPr sz="850" spc="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time</a:t>
            </a:r>
            <a:r>
              <a:rPr sz="85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compared </a:t>
            </a:r>
            <a:r>
              <a:rPr sz="850" dirty="0">
                <a:solidFill>
                  <a:schemeClr val="tx1"/>
                </a:solidFill>
                <a:latin typeface="Arial MT"/>
                <a:cs typeface="Arial MT"/>
              </a:rPr>
              <a:t>to</a:t>
            </a:r>
            <a:r>
              <a:rPr sz="850" spc="-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30" dirty="0">
                <a:solidFill>
                  <a:schemeClr val="tx1"/>
                </a:solidFill>
                <a:latin typeface="Arial MT"/>
                <a:cs typeface="Arial MT"/>
              </a:rPr>
              <a:t>vanilla </a:t>
            </a:r>
            <a:r>
              <a:rPr sz="850" spc="-40" dirty="0">
                <a:solidFill>
                  <a:schemeClr val="tx1"/>
                </a:solidFill>
                <a:latin typeface="Arial MT"/>
                <a:cs typeface="Arial MT"/>
              </a:rPr>
              <a:t>U-</a:t>
            </a:r>
            <a:r>
              <a:rPr sz="850" spc="-20" dirty="0">
                <a:solidFill>
                  <a:schemeClr val="tx1"/>
                </a:solidFill>
                <a:latin typeface="Arial MT"/>
                <a:cs typeface="Arial MT"/>
              </a:rPr>
              <a:t>Net;</a:t>
            </a:r>
            <a:r>
              <a:rPr sz="850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future</a:t>
            </a:r>
            <a:r>
              <a:rPr sz="850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chemeClr val="tx1"/>
                </a:solidFill>
                <a:latin typeface="Arial MT"/>
                <a:cs typeface="Arial MT"/>
              </a:rPr>
              <a:t>work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40" dirty="0">
                <a:solidFill>
                  <a:schemeClr val="tx1"/>
                </a:solidFill>
                <a:latin typeface="Arial MT"/>
                <a:cs typeface="Arial MT"/>
              </a:rPr>
              <a:t>needed</a:t>
            </a:r>
            <a:r>
              <a:rPr sz="85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chemeClr val="tx1"/>
                </a:solidFill>
                <a:latin typeface="Arial MT"/>
                <a:cs typeface="Arial MT"/>
              </a:rPr>
              <a:t>for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25" dirty="0">
                <a:solidFill>
                  <a:schemeClr val="tx1"/>
                </a:solidFill>
                <a:latin typeface="Arial MT"/>
                <a:cs typeface="Arial MT"/>
              </a:rPr>
              <a:t>real-</a:t>
            </a:r>
            <a:r>
              <a:rPr sz="850" dirty="0">
                <a:solidFill>
                  <a:schemeClr val="tx1"/>
                </a:solidFill>
                <a:latin typeface="Arial MT"/>
                <a:cs typeface="Arial MT"/>
              </a:rPr>
              <a:t>time </a:t>
            </a:r>
            <a:r>
              <a:rPr sz="850" spc="-20" dirty="0">
                <a:solidFill>
                  <a:schemeClr val="tx1"/>
                </a:solidFill>
                <a:latin typeface="Arial MT"/>
                <a:cs typeface="Arial MT"/>
              </a:rPr>
              <a:t>use.</a:t>
            </a:r>
            <a:endParaRPr sz="850" dirty="0">
              <a:solidFill>
                <a:schemeClr val="tx1"/>
              </a:solidFill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85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13970" marR="163830" indent="-1270">
              <a:lnSpc>
                <a:spcPct val="115300"/>
              </a:lnSpc>
            </a:pPr>
            <a:r>
              <a:rPr sz="850" spc="-65" dirty="0">
                <a:solidFill>
                  <a:schemeClr val="tx1"/>
                </a:solidFill>
                <a:latin typeface="Arial MT"/>
                <a:cs typeface="Arial MT"/>
              </a:rPr>
              <a:t>Class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25" dirty="0">
                <a:solidFill>
                  <a:schemeClr val="tx1"/>
                </a:solidFill>
                <a:latin typeface="Arial MT"/>
                <a:cs typeface="Arial MT"/>
              </a:rPr>
              <a:t>Imbalance</a:t>
            </a:r>
            <a:r>
              <a:rPr sz="850" spc="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35" dirty="0">
                <a:solidFill>
                  <a:schemeClr val="tx1"/>
                </a:solidFill>
                <a:latin typeface="Arial MT"/>
                <a:cs typeface="Arial MT"/>
              </a:rPr>
              <a:t>Handling:</a:t>
            </a:r>
            <a:r>
              <a:rPr sz="850" spc="6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75" dirty="0">
                <a:solidFill>
                  <a:schemeClr val="tx1"/>
                </a:solidFill>
                <a:latin typeface="Arial MT"/>
                <a:cs typeface="Arial MT"/>
              </a:rPr>
              <a:t>No</a:t>
            </a:r>
            <a:r>
              <a:rPr sz="850" spc="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35" dirty="0">
                <a:solidFill>
                  <a:schemeClr val="tx1"/>
                </a:solidFill>
                <a:latin typeface="Arial MT"/>
                <a:cs typeface="Arial MT"/>
              </a:rPr>
              <a:t>specialized</a:t>
            </a:r>
            <a:r>
              <a:rPr sz="850" spc="1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65" dirty="0">
                <a:solidFill>
                  <a:schemeClr val="tx1"/>
                </a:solidFill>
                <a:latin typeface="Arial MT"/>
                <a:cs typeface="Arial MT"/>
              </a:rPr>
              <a:t>toss</a:t>
            </a:r>
            <a:r>
              <a:rPr sz="850" spc="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50" dirty="0">
                <a:solidFill>
                  <a:schemeClr val="tx1"/>
                </a:solidFill>
                <a:latin typeface="Arial MT"/>
                <a:cs typeface="Arial MT"/>
              </a:rPr>
              <a:t>(e.g.</a:t>
            </a:r>
            <a:r>
              <a:rPr sz="850" spc="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30" dirty="0">
                <a:solidFill>
                  <a:schemeClr val="tx1"/>
                </a:solidFill>
                <a:latin typeface="Arial MT"/>
                <a:cs typeface="Arial MT"/>
              </a:rPr>
              <a:t>focal);</a:t>
            </a:r>
            <a:r>
              <a:rPr sz="85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25" dirty="0">
                <a:solidFill>
                  <a:schemeClr val="tx1"/>
                </a:solidFill>
                <a:latin typeface="Arial MT"/>
                <a:cs typeface="Arial MT"/>
              </a:rPr>
              <a:t>architecture</a:t>
            </a:r>
            <a:r>
              <a:rPr sz="850" spc="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45" dirty="0">
                <a:solidFill>
                  <a:schemeClr val="tx1"/>
                </a:solidFill>
                <a:latin typeface="Arial MT"/>
                <a:cs typeface="Arial MT"/>
              </a:rPr>
              <a:t>and</a:t>
            </a:r>
            <a:r>
              <a:rPr sz="850" spc="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30" dirty="0">
                <a:solidFill>
                  <a:schemeClr val="tx1"/>
                </a:solidFill>
                <a:latin typeface="Arial MT"/>
                <a:cs typeface="Arial MT"/>
              </a:rPr>
              <a:t>post-processing</a:t>
            </a:r>
            <a:r>
              <a:rPr sz="850" spc="-10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partly </a:t>
            </a:r>
            <a:r>
              <a:rPr sz="850" spc="-40" dirty="0">
                <a:solidFill>
                  <a:schemeClr val="tx1"/>
                </a:solidFill>
                <a:latin typeface="Arial MT"/>
                <a:cs typeface="Arial MT"/>
              </a:rPr>
              <a:t>compensate,</a:t>
            </a:r>
            <a:r>
              <a:rPr sz="85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but </a:t>
            </a:r>
            <a:r>
              <a:rPr sz="850" spc="-25" dirty="0">
                <a:solidFill>
                  <a:schemeClr val="tx1"/>
                </a:solidFill>
                <a:latin typeface="Arial MT"/>
                <a:cs typeface="Arial MT"/>
              </a:rPr>
              <a:t>exploring</a:t>
            </a:r>
            <a:r>
              <a:rPr sz="85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25" dirty="0">
                <a:solidFill>
                  <a:schemeClr val="tx1"/>
                </a:solidFill>
                <a:latin typeface="Arial MT"/>
                <a:cs typeface="Arial MT"/>
              </a:rPr>
              <a:t>focal</a:t>
            </a:r>
            <a:r>
              <a:rPr sz="85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or</a:t>
            </a:r>
            <a:r>
              <a:rPr sz="85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30" dirty="0">
                <a:solidFill>
                  <a:schemeClr val="tx1"/>
                </a:solidFill>
                <a:latin typeface="Arial MT"/>
                <a:cs typeface="Arial MT"/>
              </a:rPr>
              <a:t>weighted</a:t>
            </a:r>
            <a:r>
              <a:rPr sz="850" spc="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35" dirty="0">
                <a:solidFill>
                  <a:schemeClr val="tx1"/>
                </a:solidFill>
                <a:latin typeface="Arial MT"/>
                <a:cs typeface="Arial MT"/>
              </a:rPr>
              <a:t>losses</a:t>
            </a:r>
            <a:r>
              <a:rPr sz="85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25" dirty="0">
                <a:solidFill>
                  <a:schemeClr val="tx1"/>
                </a:solidFill>
                <a:latin typeface="Arial MT"/>
                <a:cs typeface="Arial MT"/>
              </a:rPr>
              <a:t>could</a:t>
            </a:r>
            <a:r>
              <a:rPr sz="85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yield</a:t>
            </a:r>
            <a:r>
              <a:rPr sz="85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further</a:t>
            </a:r>
            <a:r>
              <a:rPr sz="85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chemeClr val="tx1"/>
                </a:solidFill>
                <a:latin typeface="Arial MT"/>
                <a:cs typeface="Arial MT"/>
              </a:rPr>
              <a:t>gains.</a:t>
            </a:r>
            <a:endParaRPr sz="85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pic>
        <p:nvPicPr>
          <p:cNvPr id="7" name="object 7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13333" y="4194047"/>
            <a:ext cx="1353143" cy="2133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4E60AC-97CC-4393-E6A8-E2FFBAAB5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376" y="3668865"/>
            <a:ext cx="2189624" cy="8664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52144"/>
            <a:ext cx="387047" cy="22646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2475" y="368808"/>
            <a:ext cx="1505524" cy="403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29183" y="561847"/>
            <a:ext cx="170942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i="0" dirty="0">
                <a:solidFill>
                  <a:srgbClr val="003F84"/>
                </a:solidFill>
                <a:effectLst/>
                <a:latin typeface="Poppins" panose="00000500000000000000" pitchFamily="2" charset="0"/>
              </a:rPr>
              <a:t>References</a:t>
            </a:r>
            <a:endParaRPr sz="270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9691" y="1059434"/>
            <a:ext cx="5134610" cy="2752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415" marR="110489" indent="-6350">
              <a:lnSpc>
                <a:spcPts val="890"/>
              </a:lnSpc>
              <a:spcBef>
                <a:spcPts val="135"/>
              </a:spcBef>
              <a:buClr>
                <a:srgbClr val="363636"/>
              </a:buClr>
              <a:buAutoNum type="arabicPeriod"/>
              <a:tabLst>
                <a:tab pos="18415" algn="l"/>
                <a:tab pos="121285" algn="l"/>
              </a:tabLst>
            </a:pP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Liskowski,</a:t>
            </a:r>
            <a:r>
              <a:rPr sz="750" spc="-2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85" dirty="0">
                <a:solidFill>
                  <a:srgbClr val="363636"/>
                </a:solidFill>
                <a:latin typeface="Arial MT"/>
                <a:cs typeface="Arial MT"/>
              </a:rPr>
              <a:t>P.,</a:t>
            </a:r>
            <a:r>
              <a:rPr sz="750" spc="2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&amp;</a:t>
            </a:r>
            <a:r>
              <a:rPr sz="750" spc="-2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33333"/>
                </a:solidFill>
                <a:latin typeface="Arial MT"/>
                <a:cs typeface="Arial MT"/>
              </a:rPr>
              <a:t>Krawiec,</a:t>
            </a:r>
            <a:r>
              <a:rPr sz="750" spc="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55" dirty="0">
                <a:solidFill>
                  <a:srgbClr val="343434"/>
                </a:solidFill>
                <a:latin typeface="Arial MT"/>
                <a:cs typeface="Arial MT"/>
              </a:rPr>
              <a:t>K.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63636"/>
                </a:solidFill>
                <a:latin typeface="Arial MT"/>
                <a:cs typeface="Arial MT"/>
              </a:rPr>
              <a:t>(2016).</a:t>
            </a:r>
            <a:r>
              <a:rPr sz="750" spc="-20" dirty="0">
                <a:solidFill>
                  <a:srgbClr val="363636"/>
                </a:solidFill>
                <a:latin typeface="Arial MT"/>
                <a:cs typeface="Arial MT"/>
              </a:rPr>
              <a:t> Segmenting</a:t>
            </a:r>
            <a:r>
              <a:rPr sz="750" spc="-3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63636"/>
                </a:solidFill>
                <a:latin typeface="Arial MT"/>
                <a:cs typeface="Arial MT"/>
              </a:rPr>
              <a:t>retinal</a:t>
            </a:r>
            <a:r>
              <a:rPr sz="750" spc="-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63636"/>
                </a:solidFill>
                <a:latin typeface="Arial MT"/>
                <a:cs typeface="Arial MT"/>
              </a:rPr>
              <a:t>blood</a:t>
            </a:r>
            <a:r>
              <a:rPr sz="750" spc="1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343434"/>
                </a:solidFill>
                <a:latin typeface="Arial MT"/>
                <a:cs typeface="Arial MT"/>
              </a:rPr>
              <a:t>vessels</a:t>
            </a:r>
            <a:r>
              <a:rPr sz="750" spc="4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with</a:t>
            </a:r>
            <a:r>
              <a:rPr sz="750" spc="-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deep</a:t>
            </a:r>
            <a:r>
              <a:rPr sz="750" spc="-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63636"/>
                </a:solidFill>
                <a:latin typeface="Arial MT"/>
                <a:cs typeface="Arial MT"/>
              </a:rPr>
              <a:t>neural</a:t>
            </a:r>
            <a:r>
              <a:rPr sz="750" spc="-3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networks.</a:t>
            </a:r>
            <a:r>
              <a:rPr sz="750" spc="-2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45" dirty="0">
                <a:solidFill>
                  <a:srgbClr val="343434"/>
                </a:solidFill>
                <a:latin typeface="Arial MT"/>
                <a:cs typeface="Arial MT"/>
              </a:rPr>
              <a:t>IEEE</a:t>
            </a:r>
            <a:r>
              <a:rPr sz="750" spc="-2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Transactions</a:t>
            </a:r>
            <a:r>
              <a:rPr sz="750" spc="5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25" dirty="0">
                <a:solidFill>
                  <a:srgbClr val="363636"/>
                </a:solidFill>
                <a:latin typeface="Arial MT"/>
                <a:cs typeface="Arial MT"/>
              </a:rPr>
              <a:t>on</a:t>
            </a:r>
            <a:r>
              <a:rPr sz="750" spc="50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spc="-55" dirty="0">
                <a:solidFill>
                  <a:srgbClr val="333333"/>
                </a:solidFill>
                <a:latin typeface="Arial MT"/>
                <a:cs typeface="Arial MT"/>
              </a:rPr>
              <a:t>P1edical</a:t>
            </a:r>
            <a:r>
              <a:rPr sz="750" spc="-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Imagi</a:t>
            </a:r>
            <a:r>
              <a:rPr sz="750" spc="-14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30" dirty="0">
                <a:solidFill>
                  <a:srgbClr val="343434"/>
                </a:solidFill>
                <a:latin typeface="Arial MT"/>
                <a:cs typeface="Arial MT"/>
              </a:rPr>
              <a:t>ng,</a:t>
            </a:r>
            <a:r>
              <a:rPr sz="750" spc="-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63636"/>
                </a:solidFill>
                <a:latin typeface="Arial MT"/>
                <a:cs typeface="Arial MT"/>
              </a:rPr>
              <a:t>35(11),</a:t>
            </a:r>
            <a:r>
              <a:rPr sz="750" spc="3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spc="-40" dirty="0">
                <a:solidFill>
                  <a:srgbClr val="343434"/>
                </a:solidFill>
                <a:latin typeface="Arial MT"/>
                <a:cs typeface="Arial MT"/>
              </a:rPr>
              <a:t>2369—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2380.</a:t>
            </a:r>
            <a:r>
              <a:rPr sz="750" spc="4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https://doi.org/10.1109/TV</a:t>
            </a:r>
            <a:r>
              <a:rPr sz="750" spc="-10" dirty="0">
                <a:solidFill>
                  <a:srgbClr val="313131"/>
                </a:solidFill>
                <a:latin typeface="Arial MT"/>
                <a:cs typeface="Arial MT"/>
              </a:rPr>
              <a:t>1.2016.2546227</a:t>
            </a:r>
            <a:endParaRPr sz="750" dirty="0">
              <a:latin typeface="Arial MT"/>
              <a:cs typeface="Arial MT"/>
            </a:endParaRPr>
          </a:p>
          <a:p>
            <a:pPr marL="13970" marR="194945" indent="107314">
              <a:lnSpc>
                <a:spcPct val="97300"/>
              </a:lnSpc>
              <a:spcBef>
                <a:spcPts val="10"/>
              </a:spcBef>
              <a:buClr>
                <a:srgbClr val="343434"/>
              </a:buClr>
              <a:buAutoNum type="arabicPeriod"/>
              <a:tabLst>
                <a:tab pos="121285" algn="l"/>
              </a:tabLst>
            </a:pPr>
            <a:r>
              <a:rPr sz="750" spc="-30" dirty="0">
                <a:solidFill>
                  <a:srgbClr val="363636"/>
                </a:solidFill>
                <a:latin typeface="Arial MT"/>
                <a:cs typeface="Arial MT"/>
              </a:rPr>
              <a:t>Ronneberger,</a:t>
            </a:r>
            <a:r>
              <a:rPr sz="750" spc="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63636"/>
                </a:solidFill>
                <a:latin typeface="Arial MT"/>
                <a:cs typeface="Arial MT"/>
              </a:rPr>
              <a:t>0.,</a:t>
            </a:r>
            <a:r>
              <a:rPr sz="750" spc="-4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spc="-25" dirty="0">
                <a:solidFill>
                  <a:srgbClr val="363636"/>
                </a:solidFill>
                <a:latin typeface="Arial MT"/>
                <a:cs typeface="Arial MT"/>
              </a:rPr>
              <a:t>Fischer,</a:t>
            </a:r>
            <a:r>
              <a:rPr sz="750" spc="-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spc="-75" dirty="0">
                <a:solidFill>
                  <a:srgbClr val="333333"/>
                </a:solidFill>
                <a:latin typeface="Arial MT"/>
                <a:cs typeface="Arial MT"/>
              </a:rPr>
              <a:t>P.,</a:t>
            </a:r>
            <a:r>
              <a:rPr sz="750" spc="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60" dirty="0">
                <a:solidFill>
                  <a:srgbClr val="363636"/>
                </a:solidFill>
                <a:latin typeface="Arial MT"/>
                <a:cs typeface="Arial MT"/>
              </a:rPr>
              <a:t>&amp;</a:t>
            </a:r>
            <a:r>
              <a:rPr sz="750" spc="-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Brox,</a:t>
            </a:r>
            <a:r>
              <a:rPr sz="750" spc="1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85" dirty="0">
                <a:solidFill>
                  <a:srgbClr val="343434"/>
                </a:solidFill>
                <a:latin typeface="Arial MT"/>
                <a:cs typeface="Arial MT"/>
              </a:rPr>
              <a:t>T.</a:t>
            </a:r>
            <a:r>
              <a:rPr sz="750" spc="-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63636"/>
                </a:solidFill>
                <a:latin typeface="Arial MT"/>
                <a:cs typeface="Arial MT"/>
              </a:rPr>
              <a:t>(2015).</a:t>
            </a:r>
            <a:r>
              <a:rPr sz="750" spc="-1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U</a:t>
            </a:r>
            <a:r>
              <a:rPr sz="750" spc="-10" dirty="0">
                <a:solidFill>
                  <a:srgbClr val="3B3B3B"/>
                </a:solidFill>
                <a:latin typeface="Arial MT"/>
                <a:cs typeface="Arial MT"/>
              </a:rPr>
              <a:t>-</a:t>
            </a:r>
            <a:r>
              <a:rPr sz="750" dirty="0">
                <a:solidFill>
                  <a:srgbClr val="333333"/>
                </a:solidFill>
                <a:latin typeface="Arial MT"/>
                <a:cs typeface="Arial MT"/>
              </a:rPr>
              <a:t>Net: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Convolutional</a:t>
            </a:r>
            <a:r>
              <a:rPr sz="750" spc="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networks</a:t>
            </a:r>
            <a:r>
              <a:rPr sz="750" spc="3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for</a:t>
            </a:r>
            <a:r>
              <a:rPr sz="750" spc="5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63636"/>
                </a:solidFill>
                <a:latin typeface="Arial MT"/>
                <a:cs typeface="Arial MT"/>
              </a:rPr>
              <a:t>biomedical</a:t>
            </a:r>
            <a:r>
              <a:rPr sz="750" spc="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333333"/>
                </a:solidFill>
                <a:latin typeface="Arial MT"/>
                <a:cs typeface="Arial MT"/>
              </a:rPr>
              <a:t>image</a:t>
            </a:r>
            <a:r>
              <a:rPr sz="750" spc="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segmentation.</a:t>
            </a:r>
            <a:r>
              <a:rPr sz="750" spc="3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25" dirty="0">
                <a:solidFill>
                  <a:srgbClr val="343434"/>
                </a:solidFill>
                <a:latin typeface="Arial MT"/>
                <a:cs typeface="Arial MT"/>
              </a:rPr>
              <a:t>In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 International</a:t>
            </a:r>
            <a:r>
              <a:rPr sz="750" spc="1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25" dirty="0">
                <a:solidFill>
                  <a:srgbClr val="343434"/>
                </a:solidFill>
                <a:latin typeface="Arial MT"/>
                <a:cs typeface="Arial MT"/>
              </a:rPr>
              <a:t>Conference</a:t>
            </a:r>
            <a:r>
              <a:rPr sz="750" spc="9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on</a:t>
            </a:r>
            <a:r>
              <a:rPr sz="750" spc="1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343434"/>
                </a:solidFill>
                <a:latin typeface="Arial MT"/>
                <a:cs typeface="Arial MT"/>
              </a:rPr>
              <a:t>Medical</a:t>
            </a:r>
            <a:r>
              <a:rPr sz="750" spc="-3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63636"/>
                </a:solidFill>
                <a:latin typeface="Arial MT"/>
                <a:cs typeface="Arial MT"/>
              </a:rPr>
              <a:t>Image</a:t>
            </a:r>
            <a:r>
              <a:rPr sz="750" spc="1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Computing</a:t>
            </a:r>
            <a:r>
              <a:rPr sz="750" spc="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63636"/>
                </a:solidFill>
                <a:latin typeface="Arial MT"/>
                <a:cs typeface="Arial MT"/>
              </a:rPr>
              <a:t>and</a:t>
            </a:r>
            <a:r>
              <a:rPr sz="750" spc="4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Computer-Assisted</a:t>
            </a:r>
            <a:r>
              <a:rPr sz="750" spc="-6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33333"/>
                </a:solidFill>
                <a:latin typeface="Arial MT"/>
                <a:cs typeface="Arial MT"/>
              </a:rPr>
              <a:t>Intervention</a:t>
            </a:r>
            <a:r>
              <a:rPr sz="750" spc="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(pp.</a:t>
            </a:r>
            <a:r>
              <a:rPr sz="750" spc="3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234-241).</a:t>
            </a:r>
            <a:r>
              <a:rPr sz="750" spc="6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Springer.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https://doi.org/10.1007/978-3-319-24574-4</a:t>
            </a:r>
            <a:r>
              <a:rPr sz="750" spc="295" dirty="0">
                <a:solidFill>
                  <a:srgbClr val="343434"/>
                </a:solidFill>
                <a:latin typeface="Arial MT"/>
                <a:cs typeface="Arial MT"/>
              </a:rPr>
              <a:t>  </a:t>
            </a:r>
            <a:r>
              <a:rPr sz="750" spc="-25" dirty="0">
                <a:solidFill>
                  <a:srgbClr val="363636"/>
                </a:solidFill>
                <a:latin typeface="Arial MT"/>
                <a:cs typeface="Arial MT"/>
              </a:rPr>
              <a:t>28</a:t>
            </a:r>
            <a:endParaRPr sz="750" dirty="0">
              <a:latin typeface="Arial MT"/>
              <a:cs typeface="Arial MT"/>
            </a:endParaRPr>
          </a:p>
          <a:p>
            <a:pPr marL="13970" marR="217804" indent="104139">
              <a:lnSpc>
                <a:spcPts val="890"/>
              </a:lnSpc>
              <a:spcBef>
                <a:spcPts val="50"/>
              </a:spcBef>
              <a:buClr>
                <a:srgbClr val="343434"/>
              </a:buClr>
              <a:buAutoNum type="arabicPeriod"/>
              <a:tabLst>
                <a:tab pos="118110" algn="l"/>
              </a:tabLst>
            </a:pPr>
            <a:r>
              <a:rPr sz="750" spc="-10" dirty="0">
                <a:solidFill>
                  <a:srgbClr val="333333"/>
                </a:solidFill>
                <a:latin typeface="Arial MT"/>
                <a:cs typeface="Arial MT"/>
              </a:rPr>
              <a:t>Staal,</a:t>
            </a:r>
            <a:r>
              <a:rPr sz="750" spc="-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30" dirty="0">
                <a:solidFill>
                  <a:srgbClr val="333333"/>
                </a:solidFill>
                <a:latin typeface="Arial MT"/>
                <a:cs typeface="Arial MT"/>
              </a:rPr>
              <a:t>J.,</a:t>
            </a:r>
            <a:r>
              <a:rPr sz="750" spc="-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et</a:t>
            </a:r>
            <a:r>
              <a:rPr sz="750" spc="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al.</a:t>
            </a:r>
            <a:r>
              <a:rPr sz="750" spc="-3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(2004).</a:t>
            </a:r>
            <a:r>
              <a:rPr sz="750" spc="-3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70" dirty="0">
                <a:solidFill>
                  <a:srgbClr val="333333"/>
                </a:solidFill>
                <a:latin typeface="Arial MT"/>
                <a:cs typeface="Arial MT"/>
              </a:rPr>
              <a:t>Ridm•e-</a:t>
            </a:r>
            <a:r>
              <a:rPr sz="750" spc="-50" dirty="0">
                <a:solidFill>
                  <a:srgbClr val="333333"/>
                </a:solidFill>
                <a:latin typeface="Arial MT"/>
                <a:cs typeface="Arial MT"/>
              </a:rPr>
              <a:t>based</a:t>
            </a:r>
            <a:r>
              <a:rPr sz="750" spc="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343434"/>
                </a:solidFill>
                <a:latin typeface="Arial MT"/>
                <a:cs typeface="Arial MT"/>
              </a:rPr>
              <a:t>vessel</a:t>
            </a:r>
            <a:r>
              <a:rPr sz="750" spc="-3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segmentation</a:t>
            </a:r>
            <a:r>
              <a:rPr sz="750" spc="2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63636"/>
                </a:solidFill>
                <a:latin typeface="Arial MT"/>
                <a:cs typeface="Arial MT"/>
              </a:rPr>
              <a:t>in</a:t>
            </a:r>
            <a:r>
              <a:rPr sz="750" spc="-4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color</a:t>
            </a:r>
            <a:r>
              <a:rPr sz="750" spc="1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343434"/>
                </a:solidFill>
                <a:latin typeface="Arial MT"/>
                <a:cs typeface="Arial MT"/>
              </a:rPr>
              <a:t>images</a:t>
            </a:r>
            <a:r>
              <a:rPr sz="750" spc="3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63636"/>
                </a:solidFill>
                <a:latin typeface="Arial MT"/>
                <a:cs typeface="Arial MT"/>
              </a:rPr>
              <a:t>of</a:t>
            </a:r>
            <a:r>
              <a:rPr sz="750" spc="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63636"/>
                </a:solidFill>
                <a:latin typeface="Arial MT"/>
                <a:cs typeface="Arial MT"/>
              </a:rPr>
              <a:t>the</a:t>
            </a:r>
            <a:r>
              <a:rPr sz="750" spc="-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retina.</a:t>
            </a:r>
            <a:r>
              <a:rPr sz="750" spc="-4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45" dirty="0">
                <a:solidFill>
                  <a:srgbClr val="343434"/>
                </a:solidFill>
                <a:latin typeface="Arial MT"/>
                <a:cs typeface="Arial MT"/>
              </a:rPr>
              <a:t>IEEE</a:t>
            </a:r>
            <a:r>
              <a:rPr sz="750" spc="1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Transactions</a:t>
            </a:r>
            <a:r>
              <a:rPr sz="750" spc="4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on</a:t>
            </a:r>
            <a:r>
              <a:rPr sz="750" spc="1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f'1edical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Imaging,</a:t>
            </a:r>
            <a:r>
              <a:rPr sz="750" spc="-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63636"/>
                </a:solidFill>
                <a:latin typeface="Arial MT"/>
                <a:cs typeface="Arial MT"/>
              </a:rPr>
              <a:t>23(4),</a:t>
            </a:r>
            <a:r>
              <a:rPr sz="750" spc="-1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spc="-55" dirty="0">
                <a:solidFill>
                  <a:srgbClr val="333333"/>
                </a:solidFill>
                <a:latin typeface="Arial MT"/>
                <a:cs typeface="Arial MT"/>
              </a:rPr>
              <a:t>501—</a:t>
            </a:r>
            <a:r>
              <a:rPr sz="750" spc="-20" dirty="0">
                <a:solidFill>
                  <a:srgbClr val="333333"/>
                </a:solidFill>
                <a:latin typeface="Arial MT"/>
                <a:cs typeface="Arial MT"/>
              </a:rPr>
              <a:t>509.</a:t>
            </a:r>
            <a:r>
              <a:rPr sz="750" spc="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https://doi.org/10.1109/TMI.2004.825627</a:t>
            </a:r>
            <a:endParaRPr sz="750" dirty="0">
              <a:latin typeface="Arial MT"/>
              <a:cs typeface="Arial MT"/>
            </a:endParaRPr>
          </a:p>
          <a:p>
            <a:pPr marL="120014" indent="-101600">
              <a:lnSpc>
                <a:spcPts val="890"/>
              </a:lnSpc>
              <a:buClr>
                <a:srgbClr val="363636"/>
              </a:buClr>
              <a:buAutoNum type="arabicPeriod"/>
              <a:tabLst>
                <a:tab pos="120014" algn="l"/>
              </a:tabLst>
            </a:pPr>
            <a:r>
              <a:rPr sz="800" spc="-60" dirty="0">
                <a:solidFill>
                  <a:srgbClr val="343434"/>
                </a:solidFill>
                <a:latin typeface="Arial MT"/>
                <a:cs typeface="Arial MT"/>
              </a:rPr>
              <a:t>Hoover,</a:t>
            </a:r>
            <a:r>
              <a:rPr sz="800" spc="5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800" spc="-65" dirty="0">
                <a:solidFill>
                  <a:srgbClr val="363636"/>
                </a:solidFill>
                <a:latin typeface="Arial MT"/>
                <a:cs typeface="Arial MT"/>
              </a:rPr>
              <a:t>A.,</a:t>
            </a:r>
            <a:r>
              <a:rPr sz="800" spc="-3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800" spc="-55" dirty="0">
                <a:solidFill>
                  <a:srgbClr val="343434"/>
                </a:solidFill>
                <a:latin typeface="Arial MT"/>
                <a:cs typeface="Arial MT"/>
              </a:rPr>
              <a:t>Kouznetsova,</a:t>
            </a:r>
            <a:r>
              <a:rPr sz="800" spc="4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800" spc="-80" dirty="0">
                <a:solidFill>
                  <a:srgbClr val="343434"/>
                </a:solidFill>
                <a:latin typeface="Arial MT"/>
                <a:cs typeface="Arial MT"/>
              </a:rPr>
              <a:t>V.,</a:t>
            </a:r>
            <a:r>
              <a:rPr sz="800" spc="-3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800" spc="-75" dirty="0">
                <a:solidFill>
                  <a:srgbClr val="363636"/>
                </a:solidFill>
                <a:latin typeface="Arial MT"/>
                <a:cs typeface="Arial MT"/>
              </a:rPr>
              <a:t>&amp;</a:t>
            </a:r>
            <a:r>
              <a:rPr sz="800" spc="-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800" spc="-60" dirty="0">
                <a:solidFill>
                  <a:srgbClr val="343434"/>
                </a:solidFill>
                <a:latin typeface="Arial MT"/>
                <a:cs typeface="Arial MT"/>
              </a:rPr>
              <a:t>Goldbacim,</a:t>
            </a:r>
            <a:r>
              <a:rPr sz="800" spc="6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800" spc="-70" dirty="0">
                <a:solidFill>
                  <a:srgbClr val="343434"/>
                </a:solidFill>
                <a:latin typeface="Arial MT"/>
                <a:cs typeface="Arial MT"/>
              </a:rPr>
              <a:t>M.</a:t>
            </a:r>
            <a:r>
              <a:rPr sz="800" spc="-1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343434"/>
                </a:solidFill>
                <a:latin typeface="Arial MT"/>
                <a:cs typeface="Arial MT"/>
              </a:rPr>
              <a:t>(2000).</a:t>
            </a:r>
            <a:r>
              <a:rPr sz="800" spc="3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800" spc="-50" dirty="0">
                <a:solidFill>
                  <a:srgbClr val="333333"/>
                </a:solidFill>
                <a:latin typeface="Arial MT"/>
                <a:cs typeface="Arial MT"/>
              </a:rPr>
              <a:t>Locating</a:t>
            </a:r>
            <a:r>
              <a:rPr sz="800" spc="-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343434"/>
                </a:solidFill>
                <a:latin typeface="Arial MT"/>
                <a:cs typeface="Arial MT"/>
              </a:rPr>
              <a:t>blood</a:t>
            </a:r>
            <a:r>
              <a:rPr sz="800" spc="2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800" spc="-50" dirty="0">
                <a:solidFill>
                  <a:srgbClr val="333333"/>
                </a:solidFill>
                <a:latin typeface="Arial MT"/>
                <a:cs typeface="Arial MT"/>
              </a:rPr>
              <a:t>vessels</a:t>
            </a:r>
            <a:r>
              <a:rPr sz="800" spc="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800" spc="-35" dirty="0">
                <a:solidFill>
                  <a:srgbClr val="333333"/>
                </a:solidFill>
                <a:latin typeface="Arial MT"/>
                <a:cs typeface="Arial MT"/>
              </a:rPr>
              <a:t>in</a:t>
            </a:r>
            <a:r>
              <a:rPr sz="800" spc="-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363636"/>
                </a:solidFill>
                <a:latin typeface="Arial MT"/>
                <a:cs typeface="Arial MT"/>
              </a:rPr>
              <a:t>retinal</a:t>
            </a:r>
            <a:r>
              <a:rPr sz="800" spc="-3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800" spc="-65" dirty="0">
                <a:solidFill>
                  <a:srgbClr val="343434"/>
                </a:solidFill>
                <a:latin typeface="Arial MT"/>
                <a:cs typeface="Arial MT"/>
              </a:rPr>
              <a:t>images</a:t>
            </a:r>
            <a:r>
              <a:rPr sz="800" spc="3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800" spc="-55" dirty="0">
                <a:solidFill>
                  <a:srgbClr val="363636"/>
                </a:solidFill>
                <a:latin typeface="Arial MT"/>
                <a:cs typeface="Arial MT"/>
              </a:rPr>
              <a:t>by</a:t>
            </a:r>
            <a:r>
              <a:rPr sz="800" spc="-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343434"/>
                </a:solidFill>
                <a:latin typeface="Arial MT"/>
                <a:cs typeface="Arial MT"/>
              </a:rPr>
              <a:t>piecewise</a:t>
            </a:r>
            <a:r>
              <a:rPr sz="800" spc="7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343434"/>
                </a:solidFill>
                <a:latin typeface="Arial MT"/>
                <a:cs typeface="Arial MT"/>
              </a:rPr>
              <a:t>threshold</a:t>
            </a:r>
            <a:endParaRPr sz="800" dirty="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  <a:spcBef>
                <a:spcPts val="25"/>
              </a:spcBef>
            </a:pP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probing</a:t>
            </a:r>
            <a:r>
              <a:rPr sz="700" spc="3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58287"/>
                </a:solidFill>
                <a:latin typeface="Arial MT"/>
                <a:cs typeface="Arial MT"/>
              </a:rPr>
              <a:t>of</a:t>
            </a:r>
            <a:r>
              <a:rPr sz="700" spc="105" dirty="0">
                <a:solidFill>
                  <a:srgbClr val="75828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a</a:t>
            </a:r>
            <a:r>
              <a:rPr sz="700" spc="2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33333"/>
                </a:solidFill>
                <a:latin typeface="Arial MT"/>
                <a:cs typeface="Arial MT"/>
              </a:rPr>
              <a:t>matched</a:t>
            </a:r>
            <a:r>
              <a:rPr sz="700" spc="1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filter</a:t>
            </a:r>
            <a:r>
              <a:rPr sz="700" spc="7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response.</a:t>
            </a:r>
            <a:r>
              <a:rPr sz="700" spc="9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43434"/>
                </a:solidFill>
                <a:latin typeface="Arial MT"/>
                <a:cs typeface="Arial MT"/>
              </a:rPr>
              <a:t>IEEE</a:t>
            </a:r>
            <a:r>
              <a:rPr sz="700" spc="8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33333"/>
                </a:solidFill>
                <a:latin typeface="Arial MT"/>
                <a:cs typeface="Arial MT"/>
              </a:rPr>
              <a:t>Transactions</a:t>
            </a:r>
            <a:r>
              <a:rPr sz="700" spc="1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on</a:t>
            </a:r>
            <a:r>
              <a:rPr sz="700" spc="5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83838"/>
                </a:solidFill>
                <a:latin typeface="Arial MT"/>
                <a:cs typeface="Arial MT"/>
              </a:rPr>
              <a:t>M</a:t>
            </a:r>
            <a:r>
              <a:rPr sz="700" dirty="0">
                <a:solidFill>
                  <a:srgbClr val="333333"/>
                </a:solidFill>
                <a:latin typeface="Arial MT"/>
                <a:cs typeface="Arial MT"/>
              </a:rPr>
              <a:t>edical I</a:t>
            </a:r>
            <a:r>
              <a:rPr sz="700" spc="-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maging,</a:t>
            </a:r>
            <a:r>
              <a:rPr sz="700" spc="4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19(3),</a:t>
            </a:r>
            <a:r>
              <a:rPr sz="700" spc="8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363636"/>
                </a:solidFill>
                <a:latin typeface="Arial MT"/>
                <a:cs typeface="Arial MT"/>
              </a:rPr>
              <a:t>203—</a:t>
            </a:r>
            <a:r>
              <a:rPr sz="700" spc="-20" dirty="0">
                <a:solidFill>
                  <a:srgbClr val="363636"/>
                </a:solidFill>
                <a:latin typeface="Arial MT"/>
                <a:cs typeface="Arial MT"/>
              </a:rPr>
              <a:t>210.</a:t>
            </a:r>
            <a:endParaRPr sz="700" dirty="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solidFill>
                  <a:srgbClr val="313131"/>
                </a:solidFill>
                <a:latin typeface="Arial MT"/>
                <a:cs typeface="Arial MT"/>
              </a:rPr>
              <a:t>https://doi.org/10.1109/42.8</a:t>
            </a:r>
            <a:r>
              <a:rPr sz="750" spc="155" dirty="0">
                <a:solidFill>
                  <a:srgbClr val="313131"/>
                </a:solidFill>
                <a:latin typeface="Arial MT"/>
                <a:cs typeface="Arial MT"/>
              </a:rPr>
              <a:t>  </a:t>
            </a:r>
            <a:r>
              <a:rPr sz="750" spc="-20" dirty="0">
                <a:solidFill>
                  <a:srgbClr val="313131"/>
                </a:solidFill>
                <a:latin typeface="Arial MT"/>
                <a:cs typeface="Arial MT"/>
              </a:rPr>
              <a:t>5178</a:t>
            </a:r>
            <a:endParaRPr sz="750" dirty="0">
              <a:latin typeface="Arial MT"/>
              <a:cs typeface="Arial MT"/>
            </a:endParaRPr>
          </a:p>
          <a:p>
            <a:pPr marL="118745" indent="-96520">
              <a:lnSpc>
                <a:spcPts val="840"/>
              </a:lnSpc>
              <a:spcBef>
                <a:spcPts val="10"/>
              </a:spcBef>
              <a:buClr>
                <a:srgbClr val="343434"/>
              </a:buClr>
              <a:buAutoNum type="arabicPeriod" startAt="5"/>
              <a:tabLst>
                <a:tab pos="118745" algn="l"/>
              </a:tabLst>
            </a:pPr>
            <a:r>
              <a:rPr sz="700" spc="-95" dirty="0">
                <a:solidFill>
                  <a:srgbClr val="363636"/>
                </a:solidFill>
                <a:latin typeface="Arial MT"/>
                <a:cs typeface="Arial MT"/>
              </a:rPr>
              <a:t>3</a:t>
            </a:r>
            <a:r>
              <a:rPr sz="700" spc="-9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313131"/>
                </a:solidFill>
                <a:latin typeface="Arial MT"/>
                <a:cs typeface="Arial MT"/>
              </a:rPr>
              <a:t>iaiJg,</a:t>
            </a:r>
            <a:r>
              <a:rPr sz="700" spc="5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Z.,</a:t>
            </a:r>
            <a:r>
              <a:rPr sz="700" spc="6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33333"/>
                </a:solidFill>
                <a:latin typeface="Arial MT"/>
                <a:cs typeface="Arial MT"/>
              </a:rPr>
              <a:t>et</a:t>
            </a:r>
            <a:r>
              <a:rPr sz="700" spc="8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al.</a:t>
            </a:r>
            <a:r>
              <a:rPr sz="700" spc="4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33333"/>
                </a:solidFill>
                <a:latin typeface="Arial MT"/>
                <a:cs typeface="Arial MT"/>
              </a:rPr>
              <a:t>(2018).</a:t>
            </a:r>
            <a:r>
              <a:rPr sz="700" spc="9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83838"/>
                </a:solidFill>
                <a:latin typeface="Arial MT"/>
                <a:cs typeface="Arial MT"/>
              </a:rPr>
              <a:t>Retin</a:t>
            </a:r>
            <a:r>
              <a:rPr sz="700" spc="-11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83838"/>
                </a:solidFill>
                <a:latin typeface="Arial MT"/>
                <a:cs typeface="Arial MT"/>
              </a:rPr>
              <a:t>al</a:t>
            </a:r>
            <a:r>
              <a:rPr sz="700" spc="2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blood</a:t>
            </a:r>
            <a:r>
              <a:rPr sz="700" spc="9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vessel</a:t>
            </a:r>
            <a:r>
              <a:rPr sz="700" spc="5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13131"/>
                </a:solidFill>
                <a:latin typeface="Arial MT"/>
                <a:cs typeface="Arial MT"/>
              </a:rPr>
              <a:t>segiJJentation</a:t>
            </a:r>
            <a:r>
              <a:rPr sz="700" spc="6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using</a:t>
            </a:r>
            <a:r>
              <a:rPr sz="700" spc="1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fully</a:t>
            </a:r>
            <a:r>
              <a:rPr sz="700" spc="6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13131"/>
                </a:solidFill>
                <a:latin typeface="Arial MT"/>
                <a:cs typeface="Arial MT"/>
              </a:rPr>
              <a:t>coiJvolutional</a:t>
            </a:r>
            <a:r>
              <a:rPr sz="700" spc="2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netwoi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k</a:t>
            </a:r>
            <a:r>
              <a:rPr sz="700" spc="7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wit</a:t>
            </a:r>
            <a:r>
              <a:rPr sz="700" spc="-10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II</a:t>
            </a:r>
            <a:r>
              <a:rPr sz="700" spc="-6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728085"/>
                </a:solidFill>
                <a:latin typeface="Arial MT"/>
                <a:cs typeface="Arial MT"/>
              </a:rPr>
              <a:t>I</a:t>
            </a:r>
            <a:r>
              <a:rPr sz="700" spc="-50" dirty="0">
                <a:solidFill>
                  <a:srgbClr val="728085"/>
                </a:solidFill>
                <a:latin typeface="Arial MT"/>
                <a:cs typeface="Arial MT"/>
              </a:rPr>
              <a:t> </a:t>
            </a:r>
            <a:r>
              <a:rPr sz="700" spc="-40" dirty="0">
                <a:solidFill>
                  <a:srgbClr val="343434"/>
                </a:solidFill>
                <a:latin typeface="Arial MT"/>
                <a:cs typeface="Arial MT"/>
              </a:rPr>
              <a:t>i</a:t>
            </a:r>
            <a:r>
              <a:rPr sz="700" spc="-5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ansfer</a:t>
            </a:r>
            <a:r>
              <a:rPr sz="700" spc="9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leai</a:t>
            </a:r>
            <a:r>
              <a:rPr sz="700" spc="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43434"/>
                </a:solidFill>
                <a:latin typeface="Arial MT"/>
                <a:cs typeface="Arial MT"/>
              </a:rPr>
              <a:t>ning.</a:t>
            </a:r>
            <a:endParaRPr sz="700" dirty="0">
              <a:latin typeface="Arial MT"/>
              <a:cs typeface="Arial MT"/>
            </a:endParaRPr>
          </a:p>
          <a:p>
            <a:pPr marL="17780">
              <a:lnSpc>
                <a:spcPct val="100000"/>
              </a:lnSpc>
            </a:pPr>
            <a:r>
              <a:rPr sz="750" spc="-10" dirty="0">
                <a:solidFill>
                  <a:srgbClr val="313131"/>
                </a:solidFill>
                <a:latin typeface="Arial MT"/>
                <a:cs typeface="Arial MT"/>
              </a:rPr>
              <a:t>Computerized</a:t>
            </a:r>
            <a:r>
              <a:rPr sz="750" spc="2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50" spc="-40" dirty="0">
                <a:solidFill>
                  <a:srgbClr val="343434"/>
                </a:solidFill>
                <a:latin typeface="Arial MT"/>
                <a:cs typeface="Arial MT"/>
              </a:rPr>
              <a:t>f'1edical </a:t>
            </a:r>
            <a:r>
              <a:rPr sz="750" dirty="0">
                <a:solidFill>
                  <a:srgbClr val="363636"/>
                </a:solidFill>
                <a:latin typeface="Arial MT"/>
                <a:cs typeface="Arial MT"/>
              </a:rPr>
              <a:t>Imaging</a:t>
            </a:r>
            <a:r>
              <a:rPr sz="750" spc="4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363636"/>
                </a:solidFill>
                <a:latin typeface="Arial MT"/>
                <a:cs typeface="Arial MT"/>
              </a:rPr>
              <a:t>and</a:t>
            </a:r>
            <a:r>
              <a:rPr sz="750" spc="3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333333"/>
                </a:solidFill>
                <a:latin typeface="Arial MT"/>
                <a:cs typeface="Arial MT"/>
              </a:rPr>
              <a:t>Graphics,</a:t>
            </a:r>
            <a:r>
              <a:rPr sz="750" spc="10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33333"/>
                </a:solidFill>
                <a:latin typeface="Arial MT"/>
                <a:cs typeface="Arial MT"/>
              </a:rPr>
              <a:t>68,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1-15.</a:t>
            </a:r>
            <a:r>
              <a:rPr sz="750" spc="1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13131"/>
                </a:solidFill>
                <a:latin typeface="Arial MT"/>
                <a:cs typeface="Arial MT"/>
              </a:rPr>
              <a:t>https://doi.org/10.1016/j.compmedimag.2018.0</a:t>
            </a:r>
            <a:r>
              <a:rPr sz="750" spc="28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313131"/>
                </a:solidFill>
                <a:latin typeface="Arial MT"/>
                <a:cs typeface="Arial MT"/>
              </a:rPr>
              <a:t>.001</a:t>
            </a:r>
            <a:endParaRPr sz="750" dirty="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  <a:spcBef>
                <a:spcPts val="65"/>
              </a:spcBef>
            </a:pP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ó.</a:t>
            </a:r>
            <a:r>
              <a:rPr sz="700" spc="4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343434"/>
                </a:solidFill>
                <a:latin typeface="Arial MT"/>
                <a:cs typeface="Arial MT"/>
              </a:rPr>
              <a:t>Fu,</a:t>
            </a:r>
            <a:r>
              <a:rPr sz="700" spc="3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33333"/>
                </a:solidFill>
                <a:latin typeface="Arial MT"/>
                <a:cs typeface="Arial MT"/>
              </a:rPr>
              <a:t>H.,</a:t>
            </a:r>
            <a:r>
              <a:rPr sz="700" spc="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et</a:t>
            </a:r>
            <a:r>
              <a:rPr sz="700" spc="7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al.</a:t>
            </a:r>
            <a:r>
              <a:rPr sz="700" spc="4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(2016).</a:t>
            </a:r>
            <a:r>
              <a:rPr sz="700" spc="8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33333"/>
                </a:solidFill>
                <a:latin typeface="Arial MT"/>
                <a:cs typeface="Arial MT"/>
              </a:rPr>
              <a:t>Deepvessel:</a:t>
            </a:r>
            <a:r>
              <a:rPr sz="700" spc="1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33333"/>
                </a:solidFill>
                <a:latin typeface="Arial MT"/>
                <a:cs typeface="Arial MT"/>
              </a:rPr>
              <a:t>Peti</a:t>
            </a:r>
            <a:r>
              <a:rPr sz="700" spc="-1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00" spc="-60" dirty="0">
                <a:solidFill>
                  <a:srgbClr val="343434"/>
                </a:solidFill>
                <a:latin typeface="Arial MT"/>
                <a:cs typeface="Arial MT"/>
              </a:rPr>
              <a:t>mal</a:t>
            </a:r>
            <a:r>
              <a:rPr sz="700" spc="4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vessel</a:t>
            </a:r>
            <a:r>
              <a:rPr sz="700" spc="4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segmentatioiJ</a:t>
            </a:r>
            <a:r>
              <a:rPr sz="700" spc="9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via</a:t>
            </a:r>
            <a:r>
              <a:rPr sz="700" spc="7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13131"/>
                </a:solidFill>
                <a:latin typeface="Arial MT"/>
                <a:cs typeface="Arial MT"/>
              </a:rPr>
              <a:t>deep</a:t>
            </a:r>
            <a:r>
              <a:rPr sz="700" spc="9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learning</a:t>
            </a:r>
            <a:r>
              <a:rPr sz="700" spc="3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and</a:t>
            </a:r>
            <a:r>
              <a:rPr sz="700" spc="4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coil</a:t>
            </a:r>
            <a:r>
              <a:rPr sz="700" spc="-3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83838"/>
                </a:solidFill>
                <a:latin typeface="Arial MT"/>
                <a:cs typeface="Arial MT"/>
              </a:rPr>
              <a:t>d</a:t>
            </a: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i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tional</a:t>
            </a:r>
            <a:r>
              <a:rPr sz="700" spc="3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343434"/>
                </a:solidFill>
                <a:latin typeface="Arial MT"/>
                <a:cs typeface="Arial MT"/>
              </a:rPr>
              <a:t>rand</a:t>
            </a:r>
            <a:r>
              <a:rPr sz="700" spc="-10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63636"/>
                </a:solidFill>
                <a:latin typeface="Arial MT"/>
                <a:cs typeface="Arial MT"/>
              </a:rPr>
              <a:t>om</a:t>
            </a:r>
            <a:r>
              <a:rPr sz="700" spc="5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field.</a:t>
            </a:r>
            <a:r>
              <a:rPr sz="700" spc="-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343434"/>
                </a:solidFill>
                <a:latin typeface="Arial MT"/>
                <a:cs typeface="Arial MT"/>
              </a:rPr>
              <a:t>I</a:t>
            </a:r>
            <a:r>
              <a:rPr sz="700" spc="-5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00" spc="-50" dirty="0">
                <a:solidFill>
                  <a:srgbClr val="383838"/>
                </a:solidFill>
                <a:latin typeface="Arial MT"/>
                <a:cs typeface="Arial MT"/>
              </a:rPr>
              <a:t>n</a:t>
            </a:r>
            <a:endParaRPr sz="700" dirty="0">
              <a:latin typeface="Arial MT"/>
              <a:cs typeface="Arial MT"/>
            </a:endParaRPr>
          </a:p>
          <a:p>
            <a:pPr marL="19685" marR="254000" indent="-5715">
              <a:lnSpc>
                <a:spcPct val="101299"/>
              </a:lnSpc>
              <a:spcBef>
                <a:spcPts val="10"/>
              </a:spcBef>
            </a:pP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I</a:t>
            </a:r>
            <a:r>
              <a:rPr sz="750" spc="-9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33333"/>
                </a:solidFill>
                <a:latin typeface="Arial MT"/>
                <a:cs typeface="Arial MT"/>
              </a:rPr>
              <a:t>nternationaf</a:t>
            </a:r>
            <a:r>
              <a:rPr sz="750" spc="114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343434"/>
                </a:solidFill>
                <a:latin typeface="Arial MT"/>
                <a:cs typeface="Arial MT"/>
              </a:rPr>
              <a:t>Conference</a:t>
            </a:r>
            <a:r>
              <a:rPr sz="750" spc="7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on</a:t>
            </a:r>
            <a:r>
              <a:rPr sz="750" spc="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2F2F2F"/>
                </a:solidFill>
                <a:latin typeface="Arial MT"/>
                <a:cs typeface="Arial MT"/>
              </a:rPr>
              <a:t>Medical</a:t>
            </a:r>
            <a:r>
              <a:rPr sz="750" spc="-3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33333"/>
                </a:solidFill>
                <a:latin typeface="Arial MT"/>
                <a:cs typeface="Arial MT"/>
              </a:rPr>
              <a:t>Image</a:t>
            </a:r>
            <a:r>
              <a:rPr sz="750" spc="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Computing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 and</a:t>
            </a:r>
            <a:r>
              <a:rPr sz="750" spc="3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13131"/>
                </a:solidFill>
                <a:latin typeface="Arial MT"/>
                <a:cs typeface="Arial MT"/>
              </a:rPr>
              <a:t>Computer-Assisted</a:t>
            </a:r>
            <a:r>
              <a:rPr sz="750" spc="-6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33333"/>
                </a:solidFill>
                <a:latin typeface="Arial MT"/>
                <a:cs typeface="Arial MT"/>
              </a:rPr>
              <a:t>Intervention</a:t>
            </a:r>
            <a:r>
              <a:rPr sz="750" spc="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343434"/>
                </a:solidFill>
                <a:latin typeface="Arial MT"/>
                <a:cs typeface="Arial MT"/>
              </a:rPr>
              <a:t>(pp.</a:t>
            </a:r>
            <a:r>
              <a:rPr sz="750" spc="-3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13131"/>
                </a:solidFill>
                <a:latin typeface="Arial MT"/>
                <a:cs typeface="Arial MT"/>
              </a:rPr>
              <a:t>132-139).</a:t>
            </a:r>
            <a:r>
              <a:rPr sz="750" spc="6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33333"/>
                </a:solidFill>
                <a:latin typeface="Arial MT"/>
                <a:cs typeface="Arial MT"/>
              </a:rPr>
              <a:t>Springer. </a:t>
            </a:r>
            <a:r>
              <a:rPr sz="750" dirty="0">
                <a:solidFill>
                  <a:srgbClr val="2F2F2F"/>
                </a:solidFill>
                <a:latin typeface="Arial MT"/>
                <a:cs typeface="Arial MT"/>
              </a:rPr>
              <a:t>https://doi.org/10.1007/978-3-319-</a:t>
            </a:r>
            <a:r>
              <a:rPr sz="750" spc="335" dirty="0">
                <a:solidFill>
                  <a:srgbClr val="2F2F2F"/>
                </a:solidFill>
                <a:latin typeface="Arial MT"/>
                <a:cs typeface="Arial MT"/>
              </a:rPr>
              <a:t>  </a:t>
            </a:r>
            <a:r>
              <a:rPr sz="750" dirty="0">
                <a:solidFill>
                  <a:srgbClr val="2F2F2F"/>
                </a:solidFill>
                <a:latin typeface="Arial MT"/>
                <a:cs typeface="Arial MT"/>
              </a:rPr>
              <a:t>6723-</a:t>
            </a:r>
            <a:r>
              <a:rPr sz="750" spc="-20" dirty="0">
                <a:solidFill>
                  <a:srgbClr val="2F2F2F"/>
                </a:solidFill>
                <a:latin typeface="Arial MT"/>
                <a:cs typeface="Arial MT"/>
              </a:rPr>
              <a:t>8_16</a:t>
            </a:r>
            <a:endParaRPr sz="750" dirty="0">
              <a:latin typeface="Arial MT"/>
              <a:cs typeface="Arial MT"/>
            </a:endParaRPr>
          </a:p>
          <a:p>
            <a:pPr marL="18415">
              <a:lnSpc>
                <a:spcPts val="869"/>
              </a:lnSpc>
            </a:pPr>
            <a:r>
              <a:rPr sz="750" dirty="0">
                <a:solidFill>
                  <a:srgbClr val="333333"/>
                </a:solidFill>
                <a:latin typeface="Arial MT"/>
                <a:cs typeface="Arial MT"/>
              </a:rPr>
              <a:t>7.</a:t>
            </a:r>
            <a:r>
              <a:rPr sz="75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30" dirty="0">
                <a:solidFill>
                  <a:srgbClr val="343434"/>
                </a:solidFill>
                <a:latin typeface="Arial MT"/>
                <a:cs typeface="Arial MT"/>
              </a:rPr>
              <a:t>Meyer,</a:t>
            </a:r>
            <a:r>
              <a:rPr sz="750" spc="4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75" dirty="0">
                <a:solidFill>
                  <a:srgbClr val="343434"/>
                </a:solidFill>
                <a:latin typeface="Arial MT"/>
                <a:cs typeface="Arial MT"/>
              </a:rPr>
              <a:t>f'1.</a:t>
            </a:r>
            <a:r>
              <a:rPr sz="750" spc="1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50" dirty="0">
                <a:solidFill>
                  <a:srgbClr val="343434"/>
                </a:solidFill>
                <a:latin typeface="Arial MT"/>
                <a:cs typeface="Arial MT"/>
              </a:rPr>
              <a:t>C.,</a:t>
            </a:r>
            <a:r>
              <a:rPr sz="750" spc="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33333"/>
                </a:solidFill>
                <a:latin typeface="Arial MT"/>
                <a:cs typeface="Arial MT"/>
              </a:rPr>
              <a:t>et</a:t>
            </a:r>
            <a:r>
              <a:rPr sz="75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13131"/>
                </a:solidFill>
                <a:latin typeface="Arial MT"/>
                <a:cs typeface="Arial MT"/>
              </a:rPr>
              <a:t>al.</a:t>
            </a:r>
            <a:r>
              <a:rPr sz="750" spc="-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(2021).</a:t>
            </a:r>
            <a:r>
              <a:rPr sz="750" spc="-1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343434"/>
                </a:solidFill>
                <a:latin typeface="Arial MT"/>
                <a:cs typeface="Arial MT"/>
              </a:rPr>
              <a:t>Pixel-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wise</a:t>
            </a:r>
            <a:r>
              <a:rPr sz="750" spc="5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deep</a:t>
            </a:r>
            <a:r>
              <a:rPr sz="750" spc="2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33333"/>
                </a:solidFill>
                <a:latin typeface="Arial MT"/>
                <a:cs typeface="Arial MT"/>
              </a:rPr>
              <a:t>learning</a:t>
            </a:r>
            <a:r>
              <a:rPr sz="750" spc="-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for</a:t>
            </a:r>
            <a:r>
              <a:rPr sz="750" spc="1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25" dirty="0">
                <a:solidFill>
                  <a:srgbClr val="343434"/>
                </a:solidFill>
                <a:latin typeface="Arial MT"/>
                <a:cs typeface="Arial MT"/>
              </a:rPr>
              <a:t>vessel</a:t>
            </a:r>
            <a:r>
              <a:rPr sz="750" spc="-3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segmentation</a:t>
            </a:r>
            <a:r>
              <a:rPr sz="750" spc="6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in</a:t>
            </a:r>
            <a:r>
              <a:rPr sz="750" spc="-2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retinal </a:t>
            </a:r>
            <a:r>
              <a:rPr sz="750" spc="-25" dirty="0">
                <a:solidFill>
                  <a:srgbClr val="333333"/>
                </a:solidFill>
                <a:latin typeface="Arial MT"/>
                <a:cs typeface="Arial MT"/>
              </a:rPr>
              <a:t>images.</a:t>
            </a:r>
            <a:r>
              <a:rPr sz="750" spc="-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33333"/>
                </a:solidFill>
                <a:latin typeface="Arial MT"/>
                <a:cs typeface="Arial MT"/>
              </a:rPr>
              <a:t>Scientific</a:t>
            </a:r>
            <a:r>
              <a:rPr sz="750" spc="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25" dirty="0">
                <a:solidFill>
                  <a:srgbClr val="333333"/>
                </a:solidFill>
                <a:latin typeface="Arial MT"/>
                <a:cs typeface="Arial MT"/>
              </a:rPr>
              <a:t>Reports,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11,</a:t>
            </a:r>
            <a:r>
              <a:rPr sz="750" spc="-5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25" dirty="0">
                <a:solidFill>
                  <a:srgbClr val="383838"/>
                </a:solidFill>
                <a:latin typeface="Arial MT"/>
                <a:cs typeface="Arial MT"/>
              </a:rPr>
              <a:t>1—</a:t>
            </a:r>
            <a:endParaRPr sz="750" dirty="0">
              <a:latin typeface="Arial MT"/>
              <a:cs typeface="Arial MT"/>
            </a:endParaRPr>
          </a:p>
          <a:p>
            <a:pPr marL="12700">
              <a:lnSpc>
                <a:spcPts val="880"/>
              </a:lnSpc>
            </a:pP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12.</a:t>
            </a:r>
            <a:r>
              <a:rPr sz="750" spc="165" dirty="0">
                <a:solidFill>
                  <a:srgbClr val="343434"/>
                </a:solidFill>
                <a:latin typeface="Arial MT"/>
                <a:cs typeface="Arial MT"/>
              </a:rPr>
              <a:t>  </a:t>
            </a:r>
            <a:r>
              <a:rPr sz="750" dirty="0">
                <a:solidFill>
                  <a:srgbClr val="313131"/>
                </a:solidFill>
                <a:latin typeface="Arial MT"/>
                <a:cs typeface="Arial MT"/>
              </a:rPr>
              <a:t>https://doi.org/10.1038/s41598-021-91442-</a:t>
            </a:r>
            <a:r>
              <a:rPr sz="750" spc="-50" dirty="0">
                <a:solidFill>
                  <a:srgbClr val="313131"/>
                </a:solidFill>
                <a:latin typeface="Arial MT"/>
                <a:cs typeface="Arial MT"/>
              </a:rPr>
              <a:t>7</a:t>
            </a:r>
            <a:endParaRPr sz="750" dirty="0">
              <a:latin typeface="Arial MT"/>
              <a:cs typeface="Arial MT"/>
            </a:endParaRPr>
          </a:p>
          <a:p>
            <a:pPr marL="19685" marR="557530" indent="-635">
              <a:lnSpc>
                <a:spcPct val="100000"/>
              </a:lnSpc>
              <a:spcBef>
                <a:spcPts val="10"/>
              </a:spcBef>
              <a:buAutoNum type="arabicPeriod" startAt="8"/>
              <a:tabLst>
                <a:tab pos="19685" algn="l"/>
                <a:tab pos="121920" algn="l"/>
              </a:tabLst>
            </a:pPr>
            <a:r>
              <a:rPr sz="750" spc="-30" dirty="0">
                <a:solidFill>
                  <a:srgbClr val="343434"/>
                </a:solidFill>
                <a:latin typeface="Arial MT"/>
                <a:cs typeface="Arial MT"/>
              </a:rPr>
              <a:t>Li,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g.,</a:t>
            </a:r>
            <a:r>
              <a:rPr sz="750" spc="-2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45" dirty="0">
                <a:solidFill>
                  <a:srgbClr val="343434"/>
                </a:solidFill>
                <a:latin typeface="Arial MT"/>
                <a:cs typeface="Arial MT"/>
              </a:rPr>
              <a:t>Feng,</a:t>
            </a:r>
            <a:r>
              <a:rPr sz="750" spc="-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343434"/>
                </a:solidFill>
                <a:latin typeface="Arial MT"/>
                <a:cs typeface="Arial MT"/>
              </a:rPr>
              <a:t>B.,</a:t>
            </a:r>
            <a:r>
              <a:rPr sz="750" spc="-2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35" dirty="0">
                <a:solidFill>
                  <a:srgbClr val="343434"/>
                </a:solidFill>
                <a:latin typeface="Arial MT"/>
                <a:cs typeface="Arial MT"/>
              </a:rPr>
              <a:t>Xie,</a:t>
            </a:r>
            <a:r>
              <a:rPr sz="750" spc="-1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25" dirty="0">
                <a:solidFill>
                  <a:srgbClr val="333333"/>
                </a:solidFill>
                <a:latin typeface="Arial MT"/>
                <a:cs typeface="Arial MT"/>
              </a:rPr>
              <a:t>L.,</a:t>
            </a:r>
            <a:r>
              <a:rPr sz="750" spc="-20" dirty="0">
                <a:solidFill>
                  <a:srgbClr val="333333"/>
                </a:solidFill>
                <a:latin typeface="Arial MT"/>
                <a:cs typeface="Arial MT"/>
              </a:rPr>
              <a:t> Liang,</a:t>
            </a:r>
            <a:r>
              <a:rPr sz="750" spc="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75" dirty="0">
                <a:solidFill>
                  <a:srgbClr val="333333"/>
                </a:solidFill>
                <a:latin typeface="Arial MT"/>
                <a:cs typeface="Arial MT"/>
              </a:rPr>
              <a:t>P.,</a:t>
            </a:r>
            <a:r>
              <a:rPr sz="750" spc="-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25" dirty="0">
                <a:solidFill>
                  <a:srgbClr val="343434"/>
                </a:solidFill>
                <a:latin typeface="Arial MT"/>
                <a:cs typeface="Arial MT"/>
              </a:rPr>
              <a:t>Zhang,</a:t>
            </a:r>
            <a:r>
              <a:rPr sz="750" spc="-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25" dirty="0">
                <a:solidFill>
                  <a:srgbClr val="343434"/>
                </a:solidFill>
                <a:latin typeface="Arial MT"/>
                <a:cs typeface="Arial MT"/>
              </a:rPr>
              <a:t>H.,</a:t>
            </a:r>
            <a:r>
              <a:rPr sz="750" spc="-2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63636"/>
                </a:solidFill>
                <a:latin typeface="Arial MT"/>
                <a:cs typeface="Arial MT"/>
              </a:rPr>
              <a:t>&amp;</a:t>
            </a:r>
            <a:r>
              <a:rPr sz="750" spc="-4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spc="-30" dirty="0">
                <a:solidFill>
                  <a:srgbClr val="343434"/>
                </a:solidFill>
                <a:latin typeface="Arial MT"/>
                <a:cs typeface="Arial MT"/>
              </a:rPr>
              <a:t>Wang,</a:t>
            </a:r>
            <a:r>
              <a:rPr sz="750" spc="-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85" dirty="0">
                <a:solidFill>
                  <a:srgbClr val="343434"/>
                </a:solidFill>
                <a:latin typeface="Arial MT"/>
                <a:cs typeface="Arial MT"/>
              </a:rPr>
              <a:t>T.</a:t>
            </a:r>
            <a:r>
              <a:rPr sz="750" spc="-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33333"/>
                </a:solidFill>
                <a:latin typeface="Arial MT"/>
                <a:cs typeface="Arial MT"/>
              </a:rPr>
              <a:t>(2016).</a:t>
            </a:r>
            <a:r>
              <a:rPr sz="750" spc="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105" dirty="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sz="750" spc="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cross-modality</a:t>
            </a:r>
            <a:r>
              <a:rPr sz="750" spc="-3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13131"/>
                </a:solidFill>
                <a:latin typeface="Arial MT"/>
                <a:cs typeface="Arial MT"/>
              </a:rPr>
              <a:t>learning</a:t>
            </a:r>
            <a:r>
              <a:rPr sz="750" spc="-2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33333"/>
                </a:solidFill>
                <a:latin typeface="Arial MT"/>
                <a:cs typeface="Arial MT"/>
              </a:rPr>
              <a:t>approach</a:t>
            </a:r>
            <a:r>
              <a:rPr sz="750" spc="6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33333"/>
                </a:solidFill>
                <a:latin typeface="Arial MT"/>
                <a:cs typeface="Arial MT"/>
              </a:rPr>
              <a:t>for</a:t>
            </a:r>
            <a:r>
              <a:rPr sz="75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33333"/>
                </a:solidFill>
                <a:latin typeface="Arial MT"/>
                <a:cs typeface="Arial MT"/>
              </a:rPr>
              <a:t>vessel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segmentation</a:t>
            </a:r>
            <a:r>
              <a:rPr sz="750" spc="4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in</a:t>
            </a:r>
            <a:r>
              <a:rPr sz="750" spc="-3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13131"/>
                </a:solidFill>
                <a:latin typeface="Arial MT"/>
                <a:cs typeface="Arial MT"/>
              </a:rPr>
              <a:t>retinal</a:t>
            </a:r>
            <a:r>
              <a:rPr sz="750" spc="-5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50" spc="-25" dirty="0">
                <a:solidFill>
                  <a:srgbClr val="343434"/>
                </a:solidFill>
                <a:latin typeface="Arial MT"/>
                <a:cs typeface="Arial MT"/>
              </a:rPr>
              <a:t>images.</a:t>
            </a:r>
            <a:r>
              <a:rPr sz="750" spc="-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45" dirty="0">
                <a:solidFill>
                  <a:srgbClr val="343434"/>
                </a:solidFill>
                <a:latin typeface="Arial MT"/>
                <a:cs typeface="Arial MT"/>
              </a:rPr>
              <a:t>IEEE</a:t>
            </a:r>
            <a:r>
              <a:rPr sz="750" spc="2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33333"/>
                </a:solidFill>
                <a:latin typeface="Arial MT"/>
                <a:cs typeface="Arial MT"/>
              </a:rPr>
              <a:t>Transactions</a:t>
            </a:r>
            <a:r>
              <a:rPr sz="750" spc="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63636"/>
                </a:solidFill>
                <a:latin typeface="Arial MT"/>
                <a:cs typeface="Arial MT"/>
              </a:rPr>
              <a:t>on</a:t>
            </a:r>
            <a:r>
              <a:rPr sz="750" spc="-2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313131"/>
                </a:solidFill>
                <a:latin typeface="Arial MT"/>
                <a:cs typeface="Arial MT"/>
              </a:rPr>
              <a:t>Medical</a:t>
            </a:r>
            <a:r>
              <a:rPr sz="750" spc="-4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13131"/>
                </a:solidFill>
                <a:latin typeface="Arial MT"/>
                <a:cs typeface="Arial MT"/>
              </a:rPr>
              <a:t>Imaging,</a:t>
            </a:r>
            <a:r>
              <a:rPr sz="750" spc="1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35(1),</a:t>
            </a:r>
            <a:r>
              <a:rPr sz="750" spc="-4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45" dirty="0">
                <a:solidFill>
                  <a:srgbClr val="313131"/>
                </a:solidFill>
                <a:latin typeface="Arial MT"/>
                <a:cs typeface="Arial MT"/>
              </a:rPr>
              <a:t>109—</a:t>
            </a:r>
            <a:r>
              <a:rPr sz="750" spc="-20" dirty="0">
                <a:solidFill>
                  <a:srgbClr val="313131"/>
                </a:solidFill>
                <a:latin typeface="Arial MT"/>
                <a:cs typeface="Arial MT"/>
              </a:rPr>
              <a:t>118.</a:t>
            </a:r>
            <a:r>
              <a:rPr sz="750" spc="-10" dirty="0">
                <a:solidFill>
                  <a:srgbClr val="313131"/>
                </a:solidFill>
                <a:latin typeface="Arial MT"/>
                <a:cs typeface="Arial MT"/>
              </a:rPr>
              <a:t> https://doi.org/10.1109/TMI.2015.2458702</a:t>
            </a:r>
            <a:endParaRPr sz="750" dirty="0">
              <a:latin typeface="Arial MT"/>
              <a:cs typeface="Arial MT"/>
            </a:endParaRPr>
          </a:p>
          <a:p>
            <a:pPr marL="12700" marR="5080" indent="108585">
              <a:lnSpc>
                <a:spcPts val="910"/>
              </a:lnSpc>
              <a:spcBef>
                <a:spcPts val="10"/>
              </a:spcBef>
              <a:buClr>
                <a:srgbClr val="363636"/>
              </a:buClr>
              <a:buAutoNum type="arabicPeriod" startAt="8"/>
              <a:tabLst>
                <a:tab pos="121285" algn="l"/>
              </a:tabLst>
            </a:pPr>
            <a:r>
              <a:rPr sz="750" spc="-30" dirty="0">
                <a:solidFill>
                  <a:srgbClr val="343434"/>
                </a:solidFill>
                <a:latin typeface="Arial MT"/>
                <a:cs typeface="Arial MT"/>
              </a:rPr>
              <a:t>Zhang,</a:t>
            </a:r>
            <a:r>
              <a:rPr sz="750" spc="-2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40" dirty="0">
                <a:solidFill>
                  <a:srgbClr val="343434"/>
                </a:solidFill>
                <a:latin typeface="Arial MT"/>
                <a:cs typeface="Arial MT"/>
              </a:rPr>
              <a:t>3.,</a:t>
            </a:r>
            <a:r>
              <a:rPr sz="750" spc="-1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63636"/>
                </a:solidFill>
                <a:latin typeface="Arial MT"/>
                <a:cs typeface="Arial MT"/>
              </a:rPr>
              <a:t>et</a:t>
            </a:r>
            <a:r>
              <a:rPr sz="750" spc="-1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al.</a:t>
            </a:r>
            <a:r>
              <a:rPr sz="750" spc="-2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33333"/>
                </a:solidFill>
                <a:latin typeface="Arial MT"/>
                <a:cs typeface="Arial MT"/>
              </a:rPr>
              <a:t>(2020).</a:t>
            </a:r>
            <a:r>
              <a:rPr sz="750" spc="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33333"/>
                </a:solidFill>
                <a:latin typeface="Arial MT"/>
                <a:cs typeface="Arial MT"/>
              </a:rPr>
              <a:t>Attention</a:t>
            </a:r>
            <a:r>
              <a:rPr sz="750" spc="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33333"/>
                </a:solidFill>
                <a:latin typeface="Arial MT"/>
                <a:cs typeface="Arial MT"/>
              </a:rPr>
              <a:t>guided</a:t>
            </a:r>
            <a:r>
              <a:rPr sz="7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25" dirty="0">
                <a:solidFill>
                  <a:srgbClr val="333333"/>
                </a:solidFill>
                <a:latin typeface="Arial MT"/>
                <a:cs typeface="Arial MT"/>
              </a:rPr>
              <a:t>U-</a:t>
            </a:r>
            <a:r>
              <a:rPr sz="750" dirty="0">
                <a:solidFill>
                  <a:srgbClr val="333333"/>
                </a:solidFill>
                <a:latin typeface="Arial MT"/>
                <a:cs typeface="Arial MT"/>
              </a:rPr>
              <a:t>Net</a:t>
            </a:r>
            <a:r>
              <a:rPr sz="750" spc="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for</a:t>
            </a:r>
            <a:r>
              <a:rPr sz="750" spc="-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accurate</a:t>
            </a:r>
            <a:r>
              <a:rPr sz="750" spc="1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retinal</a:t>
            </a:r>
            <a:r>
              <a:rPr sz="750" spc="-7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313131"/>
                </a:solidFill>
                <a:latin typeface="Arial MT"/>
                <a:cs typeface="Arial MT"/>
              </a:rPr>
              <a:t>vessels</a:t>
            </a:r>
            <a:r>
              <a:rPr sz="750" spc="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33333"/>
                </a:solidFill>
                <a:latin typeface="Arial MT"/>
                <a:cs typeface="Arial MT"/>
              </a:rPr>
              <a:t>segmentation.</a:t>
            </a:r>
            <a:r>
              <a:rPr sz="750" spc="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33333"/>
                </a:solidFill>
                <a:latin typeface="Arial MT"/>
                <a:cs typeface="Arial MT"/>
              </a:rPr>
              <a:t>In</a:t>
            </a:r>
            <a:r>
              <a:rPr sz="750" spc="8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343434"/>
                </a:solidFill>
                <a:latin typeface="Arial MT"/>
                <a:cs typeface="Arial MT"/>
              </a:rPr>
              <a:t>Medical</a:t>
            </a:r>
            <a:r>
              <a:rPr sz="750" spc="-4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Image</a:t>
            </a:r>
            <a:r>
              <a:rPr sz="750" spc="6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333333"/>
                </a:solidFill>
                <a:latin typeface="Arial MT"/>
                <a:cs typeface="Arial MT"/>
              </a:rPr>
              <a:t>Analysis,</a:t>
            </a:r>
            <a:r>
              <a:rPr sz="750" spc="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25" dirty="0">
                <a:solidFill>
                  <a:srgbClr val="333333"/>
                </a:solidFill>
                <a:latin typeface="Arial MT"/>
                <a:cs typeface="Arial MT"/>
              </a:rPr>
              <a:t>63,</a:t>
            </a:r>
            <a:r>
              <a:rPr sz="750" dirty="0">
                <a:solidFill>
                  <a:srgbClr val="333333"/>
                </a:solidFill>
                <a:latin typeface="Arial MT"/>
                <a:cs typeface="Arial MT"/>
              </a:rPr>
              <a:t> 101789.</a:t>
            </a:r>
            <a:r>
              <a:rPr sz="750" spc="18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13131"/>
                </a:solidFill>
                <a:latin typeface="Arial MT"/>
                <a:cs typeface="Arial MT"/>
              </a:rPr>
              <a:t>https://doi.org/10.1016/j.media.</a:t>
            </a:r>
            <a:r>
              <a:rPr sz="750" spc="-3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2020.101789</a:t>
            </a:r>
            <a:endParaRPr sz="750" dirty="0">
              <a:latin typeface="Arial MT"/>
              <a:cs typeface="Arial MT"/>
            </a:endParaRPr>
          </a:p>
          <a:p>
            <a:pPr marL="18415" marR="44450" indent="-6350">
              <a:lnSpc>
                <a:spcPts val="860"/>
              </a:lnSpc>
              <a:spcBef>
                <a:spcPts val="20"/>
              </a:spcBef>
              <a:buClr>
                <a:srgbClr val="343434"/>
              </a:buClr>
              <a:buAutoNum type="arabicPeriod" startAt="8"/>
              <a:tabLst>
                <a:tab pos="18415" algn="l"/>
                <a:tab pos="175260" algn="l"/>
              </a:tabLst>
            </a:pPr>
            <a:r>
              <a:rPr sz="750" spc="-10" dirty="0">
                <a:solidFill>
                  <a:srgbClr val="333333"/>
                </a:solidFill>
                <a:latin typeface="Arial MT"/>
                <a:cs typeface="Arial MT"/>
              </a:rPr>
              <a:t>Oliveira,</a:t>
            </a:r>
            <a:r>
              <a:rPr sz="750" spc="-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25" dirty="0">
                <a:solidFill>
                  <a:srgbClr val="313131"/>
                </a:solidFill>
                <a:latin typeface="Arial MT"/>
                <a:cs typeface="Arial MT"/>
              </a:rPr>
              <a:t>A.,</a:t>
            </a:r>
            <a:r>
              <a:rPr sz="750" spc="-3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343434"/>
                </a:solidFill>
                <a:latin typeface="Arial MT"/>
                <a:cs typeface="Arial MT"/>
              </a:rPr>
              <a:t>Pereira, </a:t>
            </a:r>
            <a:r>
              <a:rPr sz="750" spc="-45" dirty="0">
                <a:solidFill>
                  <a:srgbClr val="333333"/>
                </a:solidFill>
                <a:latin typeface="Arial MT"/>
                <a:cs typeface="Arial MT"/>
              </a:rPr>
              <a:t>S.,</a:t>
            </a:r>
            <a:r>
              <a:rPr sz="750" spc="-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&amp;</a:t>
            </a:r>
            <a:r>
              <a:rPr sz="750" spc="-3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25" dirty="0">
                <a:solidFill>
                  <a:srgbClr val="343434"/>
                </a:solidFill>
                <a:latin typeface="Arial MT"/>
                <a:cs typeface="Arial MT"/>
              </a:rPr>
              <a:t>Silva,</a:t>
            </a:r>
            <a:r>
              <a:rPr sz="750" spc="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70" dirty="0">
                <a:solidFill>
                  <a:srgbClr val="333333"/>
                </a:solidFill>
                <a:latin typeface="Arial MT"/>
                <a:cs typeface="Arial MT"/>
              </a:rPr>
              <a:t>C.</a:t>
            </a:r>
            <a:r>
              <a:rPr sz="7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45" dirty="0">
                <a:solidFill>
                  <a:srgbClr val="333333"/>
                </a:solidFill>
                <a:latin typeface="Arial MT"/>
                <a:cs typeface="Arial MT"/>
              </a:rPr>
              <a:t>A.</a:t>
            </a:r>
            <a:r>
              <a:rPr sz="750" spc="-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383838"/>
                </a:solidFill>
                <a:latin typeface="Arial MT"/>
                <a:cs typeface="Arial MT"/>
              </a:rPr>
              <a:t>(2018a.</a:t>
            </a:r>
            <a:r>
              <a:rPr sz="750" spc="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Retinal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25" dirty="0">
                <a:solidFill>
                  <a:srgbClr val="343434"/>
                </a:solidFill>
                <a:latin typeface="Arial MT"/>
                <a:cs typeface="Arial MT"/>
              </a:rPr>
              <a:t>vessel</a:t>
            </a:r>
            <a:r>
              <a:rPr sz="750" spc="-3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segmentation</a:t>
            </a:r>
            <a:r>
              <a:rPr sz="750" spc="5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343434"/>
                </a:solidFill>
                <a:latin typeface="Arial MT"/>
                <a:cs typeface="Arial MT"/>
              </a:rPr>
              <a:t>based</a:t>
            </a:r>
            <a:r>
              <a:rPr sz="750" spc="3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333333"/>
                </a:solidFill>
                <a:latin typeface="Arial MT"/>
                <a:cs typeface="Arial MT"/>
              </a:rPr>
              <a:t>on</a:t>
            </a:r>
            <a:r>
              <a:rPr sz="750" spc="-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13131"/>
                </a:solidFill>
                <a:latin typeface="Arial MT"/>
                <a:cs typeface="Arial MT"/>
              </a:rPr>
              <a:t>fully</a:t>
            </a:r>
            <a:r>
              <a:rPr sz="750" spc="-3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convolutional</a:t>
            </a:r>
            <a:r>
              <a:rPr sz="750" spc="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neural</a:t>
            </a:r>
            <a:r>
              <a:rPr sz="750" spc="-1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networks. Expert</a:t>
            </a:r>
            <a:r>
              <a:rPr sz="750" spc="6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343434"/>
                </a:solidFill>
                <a:latin typeface="Arial MT"/>
                <a:cs typeface="Arial MT"/>
              </a:rPr>
              <a:t>Systems</a:t>
            </a:r>
            <a:r>
              <a:rPr sz="750" spc="9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with</a:t>
            </a:r>
            <a:r>
              <a:rPr sz="750" spc="5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43434"/>
                </a:solidFill>
                <a:latin typeface="Arial MT"/>
                <a:cs typeface="Arial MT"/>
              </a:rPr>
              <a:t>Applications,</a:t>
            </a:r>
            <a:r>
              <a:rPr sz="750" spc="3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43434"/>
                </a:solidFill>
                <a:latin typeface="Arial MT"/>
                <a:cs typeface="Arial MT"/>
              </a:rPr>
              <a:t>112,</a:t>
            </a:r>
            <a:r>
              <a:rPr sz="750" spc="2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333333"/>
                </a:solidFill>
                <a:latin typeface="Arial MT"/>
                <a:cs typeface="Arial MT"/>
              </a:rPr>
              <a:t>229-242.</a:t>
            </a:r>
            <a:r>
              <a:rPr sz="750" spc="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333333"/>
                </a:solidFill>
                <a:latin typeface="Arial MT"/>
                <a:cs typeface="Arial MT"/>
              </a:rPr>
              <a:t>https://doi.org/10.1016/j.eswa.2018.06.030</a:t>
            </a:r>
            <a:endParaRPr sz="750" dirty="0">
              <a:latin typeface="Arial MT"/>
              <a:cs typeface="Arial M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02050B-21A2-4789-0FBD-033F0C781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6622475" y="4195940"/>
            <a:ext cx="1505525" cy="3464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1247</Words>
  <Application>Microsoft Office PowerPoint</Application>
  <PresentationFormat>Custom</PresentationFormat>
  <Paragraphs>143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 Black</vt:lpstr>
      <vt:lpstr>Arial MT</vt:lpstr>
      <vt:lpstr>Consolas</vt:lpstr>
      <vt:lpstr>Courier New</vt:lpstr>
      <vt:lpstr>IBM Plex Sans</vt:lpstr>
      <vt:lpstr>Poppins</vt:lpstr>
      <vt:lpstr>Times New Roman</vt:lpstr>
      <vt:lpstr>Office Theme</vt:lpstr>
      <vt:lpstr>A Hybrid U-Net and Machine Learning Approach for Retinal Vessel Segmentation</vt:lpstr>
      <vt:lpstr>   Advancements in Fundus Image Segmentation</vt:lpstr>
      <vt:lpstr>Challenges in Vessel Segmentotion</vt:lpstr>
      <vt:lpstr>Innovative Solutions for Vessel Segmentation</vt:lpstr>
      <vt:lpstr>Detailed Overview of Fundus Datasets</vt:lpstr>
      <vt:lpstr>Methodology for Vessel Segmentotion</vt:lpstr>
      <vt:lpstr>Architecture and Algorithms Used </vt:lpstr>
      <vt:lpstr>Architecture and Algorithms Used </vt:lpstr>
      <vt:lpstr>Architecture and Algorithms Used </vt:lpstr>
      <vt:lpstr>Performance Metrics for Vessel Segmentotion Comparative Analysis of Segmentation Results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sparsh</dc:creator>
  <cp:lastModifiedBy>Aditya Pandey</cp:lastModifiedBy>
  <cp:revision>1</cp:revision>
  <dcterms:created xsi:type="dcterms:W3CDTF">2025-04-24T06:20:06Z</dcterms:created>
  <dcterms:modified xsi:type="dcterms:W3CDTF">2025-04-24T10:51:54Z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2025-04-24T00:00:00Z</vt:filetime>
  </property>
  <property fmtid="{D5CDD505-2E9C-101B-9397-08002B2CF9AE}" pid="3" name="Producer">
    <vt:lpwstr>jsPDF 2.5.1</vt:lpwstr>
  </property>
  <property fmtid="{D5CDD505-2E9C-101B-9397-08002B2CF9AE}" pid="4" name="LastSaved">
    <vt:filetime>2025-04-24T00:00:00Z</vt:filetime>
  </property>
</Properties>
</file>